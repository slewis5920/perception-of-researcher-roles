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8288000" cy="10287000"/>
  <p:notesSz cx="6858000" cy="9144000"/>
  <p:embeddedFontLst>
    <p:embeddedFont>
      <p:font typeface="Roca Two Bold" charset="1" panose="00000800000000000000"/>
      <p:regular r:id="rId39"/>
    </p:embeddedFont>
    <p:embeddedFont>
      <p:font typeface="Roca Two" charset="1" panose="00000500000000000000"/>
      <p:regular r:id="rId40"/>
    </p:embeddedFont>
    <p:embeddedFont>
      <p:font typeface="Arimo" charset="1" panose="020B0604020202020204"/>
      <p:regular r:id="rId41"/>
    </p:embeddedFont>
    <p:embeddedFont>
      <p:font typeface="Arimo Bold" charset="1" panose="020B0704020202020204"/>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notesMasters/notesMaster1.xml" Type="http://schemas.openxmlformats.org/officeDocument/2006/relationships/notesMaster"/><Relationship Id="rId43" Target="theme/theme2.xml" Type="http://schemas.openxmlformats.org/officeDocument/2006/relationships/theme"/><Relationship Id="rId44" Target="notesSlides/notesSlide1.xml" Type="http://schemas.openxmlformats.org/officeDocument/2006/relationships/notesSlide"/><Relationship Id="rId45" Target="notesSlides/notesSlide2.xml" Type="http://schemas.openxmlformats.org/officeDocument/2006/relationships/notesSlide"/><Relationship Id="rId46" Target="notesSlides/notesSlide3.xml" Type="http://schemas.openxmlformats.org/officeDocument/2006/relationships/notesSlide"/><Relationship Id="rId47" Target="notesSlides/notesSlide4.xml" Type="http://schemas.openxmlformats.org/officeDocument/2006/relationships/notesSlide"/><Relationship Id="rId48" Target="fonts/font48.fntdata" Type="http://schemas.openxmlformats.org/officeDocument/2006/relationships/font"/><Relationship Id="rId49" Target="notesSlides/notesSlide5.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Severe offenses like fraud lead to strong penalties (e.g., job loss).</a:t>
            </a:r>
          </a:p>
          <a:p>
            <a:r>
              <a:rPr lang="en-US"/>
              <a:t/>
            </a:r>
          </a:p>
          <a:p>
            <a:r>
              <a:rPr lang="en-US"/>
              <a:t>Less severe practices often face no real consequences.</a:t>
            </a:r>
          </a:p>
          <a:p>
            <a:r>
              <a:rPr lang="en-US"/>
              <a:t/>
            </a:r>
          </a:p>
          <a:p>
            <a:r>
              <a:rPr lang="en-US"/>
              <a:t>But we also see that the rating of severity may be confounded with the prevalence pr commonality of the QRP in the field. </a:t>
            </a:r>
          </a:p>
          <a:p>
            <a:r>
              <a:rPr lang="en-US"/>
              <a:t/>
            </a:r>
          </a:p>
          <a:p>
            <a:r>
              <a:rPr lang="en-US"/>
              <a:t>Larsson et al. HARKing and Salami slicing being the most frequent and rated the lower in severity. </a:t>
            </a:r>
          </a:p>
          <a:p>
            <a:r>
              <a:rPr lang="en-US"/>
              <a:t/>
            </a:r>
          </a:p>
          <a:p>
            <a:r>
              <a:rPr lang="en-US"/>
              <a:t>This inconsistency shapes perceptions of researcher in regards to trust, likeability, and a variety of reputationally aspects such as likelihood to get a job or secure funding. </a:t>
            </a:r>
          </a:p>
          <a:p>
            <a:r>
              <a:rPr lang="en-US"/>
              <a:t/>
            </a:r>
          </a:p>
          <a:p>
            <a:r>
              <a:rPr lang="en-US"/>
              <a:t>Over 60% of whistleblowers report at least one negative consequence.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Although trustworthiness and likeability are often positively related, prior work suggests they can diverge in contexts involving norm enforcement. For example, Monin, et al., (2008) found that “moral rebels (i.e. those who refuse to go along with moral questionable tasks) are judged as principled and trustworthy but also tend to be disliked. Similarly, Cheliatsidou et al. (2023) report that whistleblowers are recognized as upholding ethical standards yet are often seen as disloyal or disruptive. These findings suggest that inspectors may be evaluated as more trustworthy because of their integrity, but less likeable because their actions generate social tension.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441 usable participants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Each participant will read six vignettes. The vignettes were created using scenarios from Ebersole and colleagues (2016) as a guide. Ebersole and colleagues used a similar study design to compare replicators and original researchers. The current project’s vignettes adopt this same structure, but instead of a replication, the second researcher conducts a robust check or review then reports their concerns to the original researcher’s institute. All vignettes begin with a sentence about Researcher X (the scientific investigator) and continue with a sentence about the QRP they engaged in. The third and final sentence describes Researcher Y (the scientific inspector) writing a blog post providing evidence of their suspicions of Researcher X with a suggestion on the implications of the QRP. For example, you can see the structure of the vignettes in our HARKing example; </a:t>
            </a:r>
          </a:p>
          <a:p>
            <a:r>
              <a:rPr lang="en-US"/>
              <a:t>Researcher X conducted a study and found an interesting result. However, when Researcher Y reviewed the paper, they realized that Researcher X had changed their hypothesis to fit with the data, presenting it as if it had been what they predicted all along. Researcher Y writes a blog post highlighting evidence that Researcher X changed the original hypothesis. Researcher Y suggests manipulating hypotheses after data collection can mislead the scientific community and undermine the integrity of research. </a:t>
            </a:r>
          </a:p>
          <a:p>
            <a:r>
              <a:rPr lang="en-US"/>
              <a:t>Vignettes vary by severity of QRP. There are two scenarios at each level: vague preregistration and overreaching abstract (minor), p-hacking and HARKing (moderate), salami slicing and data fabrication (major). Severity was informed by a combination of theoretical and empirical sources. Kolstoe’s (2023) spectrum of QRPs conceptualizes QRPs as a continuum, from minor error to misunderstanding, sloppiness, incompetence, falsification, fabrication, and ends with criminal misconduct. Accordingly, vague preregistration and overreaching abstract were classified as minor, as they represent misunderstanding or sloppiness. </a:t>
            </a:r>
          </a:p>
          <a:p>
            <a:r>
              <a:rPr lang="en-US"/>
              <a:t>To determine moderate and major QRPs, Bottesini et al., (2022) evidence was used. They found that HARKing and p-hacking were rated unacceptable by 68% of participants (specifically 68.7 and 68.3 respectfully), whereas data fraud was deemed unacceptable by 81.3% of participants. These results lead to placing p-hacking and HARKing in moderate category and data fraud in the major category. </a:t>
            </a:r>
          </a:p>
          <a:p>
            <a:r>
              <a:rPr lang="en-US"/>
              <a:t>The placement of salami slicing required additional consideration. Larsson et al., (2023) reported a mean of 3.45 (on a 5-point scale) which suggested a moderate rating. However, Sterling et al., (2025) found that perceived severity especially for salami slicing depended greatly on the definition, the number of “slices” and whether selective reporting was present. Taking into consideration that the rating for salami slicing could be influence prevalence and definitional clarity, the present vignetter tries to capture salami slicing in a form that leans more towards the more severe (borderline fraudulent) end of the spectrum.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First, it introduces a novel framework for examining scientific whistleblowing outside of industrial contexts. Second, it explores how the nature of the offense interacts with perceived roles to shape social judgments in science. In doing so, this work contributes to a more nuanced understanding of how ethical accountability is recognized and rewarded, or not, by the broader public. Lastly, this project was modeled from the Ebersole et al, 2016 paper and therefore I have included their scale of attributes to conduct an exploratory analysis. As the scientific community continues to emphasize transparency and responsible research practices, understanding the perceptions of scientific investigators and inspectors becomes crucial to fostering an environment where ethical accountability is supported rather than punished.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notesSlides/notesSlide1.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notesSlides/notesSlide2.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notesSlides/notesSlide3.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notesSlides/notesSlide4.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notesSlides/notesSlide5.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3047404" y="271913"/>
            <a:ext cx="12583225" cy="4987533"/>
          </a:xfrm>
          <a:custGeom>
            <a:avLst/>
            <a:gdLst/>
            <a:ahLst/>
            <a:cxnLst/>
            <a:rect r="r" b="b" t="t" l="l"/>
            <a:pathLst>
              <a:path h="4987533" w="12583225">
                <a:moveTo>
                  <a:pt x="0" y="0"/>
                </a:moveTo>
                <a:lnTo>
                  <a:pt x="12583225" y="0"/>
                </a:lnTo>
                <a:lnTo>
                  <a:pt x="12583225" y="4987533"/>
                </a:lnTo>
                <a:lnTo>
                  <a:pt x="0" y="4987533"/>
                </a:lnTo>
                <a:lnTo>
                  <a:pt x="0" y="0"/>
                </a:lnTo>
                <a:close/>
              </a:path>
            </a:pathLst>
          </a:custGeom>
          <a:blipFill>
            <a:blip r:embed="rId3">
              <a:alphaModFix amt="7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1577296" y="1922202"/>
            <a:ext cx="15133407" cy="2249256"/>
          </a:xfrm>
          <a:prstGeom prst="rect">
            <a:avLst/>
          </a:prstGeom>
        </p:spPr>
        <p:txBody>
          <a:bodyPr anchor="t" rtlCol="false" tIns="0" lIns="0" bIns="0" rIns="0">
            <a:spAutoFit/>
          </a:bodyPr>
          <a:lstStyle/>
          <a:p>
            <a:pPr algn="ctr">
              <a:lnSpc>
                <a:spcPts val="18300"/>
              </a:lnSpc>
            </a:pPr>
            <a:r>
              <a:rPr lang="en-US" b="true" sz="13071">
                <a:solidFill>
                  <a:srgbClr val="163C3F"/>
                </a:solidFill>
                <a:latin typeface="Roca Two Bold"/>
                <a:ea typeface="Roca Two Bold"/>
                <a:cs typeface="Roca Two Bold"/>
                <a:sym typeface="Roca Two Bold"/>
              </a:rPr>
              <a:t>THANK YOU</a:t>
            </a:r>
          </a:p>
        </p:txBody>
      </p:sp>
      <p:sp>
        <p:nvSpPr>
          <p:cNvPr name="Freeform 8" id="8"/>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5486400" y="3918751"/>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0" id="10"/>
          <p:cNvSpPr txBox="true"/>
          <p:nvPr/>
        </p:nvSpPr>
        <p:spPr>
          <a:xfrm rot="0">
            <a:off x="5724316" y="4899322"/>
            <a:ext cx="6839368" cy="3916045"/>
          </a:xfrm>
          <a:prstGeom prst="rect">
            <a:avLst/>
          </a:prstGeom>
        </p:spPr>
        <p:txBody>
          <a:bodyPr anchor="t" rtlCol="false" tIns="0" lIns="0" bIns="0" rIns="0">
            <a:spAutoFit/>
          </a:bodyPr>
          <a:lstStyle/>
          <a:p>
            <a:pPr algn="ctr">
              <a:lnSpc>
                <a:spcPts val="5180"/>
              </a:lnSpc>
            </a:pPr>
            <a:r>
              <a:rPr lang="en-US" sz="3700">
                <a:solidFill>
                  <a:srgbClr val="000000"/>
                </a:solidFill>
                <a:latin typeface="Roca Two"/>
                <a:ea typeface="Roca Two"/>
                <a:cs typeface="Roca Two"/>
                <a:sym typeface="Roca Two"/>
              </a:rPr>
              <a:t>ALEXA TULLETT</a:t>
            </a:r>
          </a:p>
          <a:p>
            <a:pPr algn="ctr">
              <a:lnSpc>
                <a:spcPts val="5180"/>
              </a:lnSpc>
            </a:pPr>
            <a:r>
              <a:rPr lang="en-US" sz="3700">
                <a:solidFill>
                  <a:srgbClr val="000000"/>
                </a:solidFill>
                <a:latin typeface="Roca Two"/>
                <a:ea typeface="Roca Two"/>
                <a:cs typeface="Roca Two"/>
                <a:sym typeface="Roca Two"/>
              </a:rPr>
              <a:t>SHARLA </a:t>
            </a:r>
            <a:r>
              <a:rPr lang="en-US" sz="3700">
                <a:solidFill>
                  <a:srgbClr val="000000"/>
                </a:solidFill>
                <a:latin typeface="Roca Two"/>
                <a:ea typeface="Roca Two"/>
                <a:cs typeface="Roca Two"/>
                <a:sym typeface="Roca Two"/>
              </a:rPr>
              <a:t>BIEFIELD</a:t>
            </a:r>
          </a:p>
          <a:p>
            <a:pPr algn="ctr">
              <a:lnSpc>
                <a:spcPts val="5180"/>
              </a:lnSpc>
            </a:pPr>
            <a:r>
              <a:rPr lang="en-US" sz="3700">
                <a:solidFill>
                  <a:srgbClr val="000000"/>
                </a:solidFill>
                <a:latin typeface="Roca Two"/>
                <a:ea typeface="Roca Two"/>
                <a:cs typeface="Roca Two"/>
                <a:sym typeface="Roca Two"/>
              </a:rPr>
              <a:t>LEIF NELSON</a:t>
            </a:r>
          </a:p>
          <a:p>
            <a:pPr algn="ctr">
              <a:lnSpc>
                <a:spcPts val="5180"/>
              </a:lnSpc>
            </a:pPr>
            <a:r>
              <a:rPr lang="en-US" sz="3700">
                <a:solidFill>
                  <a:srgbClr val="000000"/>
                </a:solidFill>
                <a:latin typeface="Roca Two"/>
                <a:ea typeface="Roca Two"/>
                <a:cs typeface="Roca Two"/>
                <a:sym typeface="Roca Two"/>
              </a:rPr>
              <a:t> WILL HART</a:t>
            </a:r>
          </a:p>
          <a:p>
            <a:pPr algn="ctr">
              <a:lnSpc>
                <a:spcPts val="5180"/>
              </a:lnSpc>
            </a:pPr>
            <a:r>
              <a:rPr lang="en-US" sz="3700">
                <a:solidFill>
                  <a:srgbClr val="000000"/>
                </a:solidFill>
                <a:latin typeface="Roca Two"/>
                <a:ea typeface="Roca Two"/>
                <a:cs typeface="Roca Two"/>
                <a:sym typeface="Roca Two"/>
              </a:rPr>
              <a:t>DESPINA STAVRINOS </a:t>
            </a:r>
          </a:p>
          <a:p>
            <a:pPr algn="ctr">
              <a:lnSpc>
                <a:spcPts val="518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2852388" y="2096900"/>
            <a:ext cx="12583225" cy="4987533"/>
          </a:xfrm>
          <a:custGeom>
            <a:avLst/>
            <a:gdLst/>
            <a:ahLst/>
            <a:cxnLst/>
            <a:rect r="r" b="b" t="t" l="l"/>
            <a:pathLst>
              <a:path h="4987533" w="12583225">
                <a:moveTo>
                  <a:pt x="0" y="0"/>
                </a:moveTo>
                <a:lnTo>
                  <a:pt x="12583224" y="0"/>
                </a:lnTo>
                <a:lnTo>
                  <a:pt x="12583224" y="4987532"/>
                </a:lnTo>
                <a:lnTo>
                  <a:pt x="0" y="4987532"/>
                </a:lnTo>
                <a:lnTo>
                  <a:pt x="0" y="0"/>
                </a:lnTo>
                <a:close/>
              </a:path>
            </a:pathLst>
          </a:custGeom>
          <a:blipFill>
            <a:blip r:embed="rId3">
              <a:alphaModFix amt="7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4413013" y="3792924"/>
            <a:ext cx="9132698" cy="2664460"/>
          </a:xfrm>
          <a:prstGeom prst="rect">
            <a:avLst/>
          </a:prstGeom>
        </p:spPr>
        <p:txBody>
          <a:bodyPr anchor="t" rtlCol="false" tIns="0" lIns="0" bIns="0" rIns="0">
            <a:spAutoFit/>
          </a:bodyPr>
          <a:lstStyle/>
          <a:p>
            <a:pPr algn="ctr">
              <a:lnSpc>
                <a:spcPts val="4249"/>
              </a:lnSpc>
            </a:pPr>
            <a:r>
              <a:rPr lang="en-US" b="true" sz="3399">
                <a:solidFill>
                  <a:srgbClr val="163C3F"/>
                </a:solidFill>
                <a:latin typeface="Roca Two Bold"/>
                <a:ea typeface="Roca Two Bold"/>
                <a:cs typeface="Roca Two Bold"/>
                <a:sym typeface="Roca Two Bold"/>
              </a:rPr>
              <a:t>FROM MISCONDUCT TO REFORM: UNDERSTANDING PERCEPTIONS OF THOSE WHO COMMIT AND CALL OUT QUESTIONABLE RESEARCH PRACTICES </a:t>
            </a:r>
          </a:p>
          <a:p>
            <a:pPr algn="ctr">
              <a:lnSpc>
                <a:spcPts val="4249"/>
              </a:lnSpc>
            </a:pPr>
          </a:p>
        </p:txBody>
      </p:sp>
      <p:sp>
        <p:nvSpPr>
          <p:cNvPr name="Freeform 8" id="8"/>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5486400" y="7084432"/>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0" id="10"/>
          <p:cNvSpPr txBox="true"/>
          <p:nvPr/>
        </p:nvSpPr>
        <p:spPr>
          <a:xfrm rot="0">
            <a:off x="5724316" y="7633770"/>
            <a:ext cx="6839368" cy="688975"/>
          </a:xfrm>
          <a:prstGeom prst="rect">
            <a:avLst/>
          </a:prstGeom>
        </p:spPr>
        <p:txBody>
          <a:bodyPr anchor="t" rtlCol="false" tIns="0" lIns="0" bIns="0" rIns="0">
            <a:spAutoFit/>
          </a:bodyPr>
          <a:lstStyle/>
          <a:p>
            <a:pPr algn="ctr">
              <a:lnSpc>
                <a:spcPts val="5599"/>
              </a:lnSpc>
            </a:pPr>
            <a:r>
              <a:rPr lang="en-US" sz="3999">
                <a:solidFill>
                  <a:srgbClr val="000000"/>
                </a:solidFill>
                <a:latin typeface="Arimo"/>
                <a:ea typeface="Arimo"/>
                <a:cs typeface="Arimo"/>
                <a:sym typeface="Arimo"/>
              </a:rPr>
              <a:t>By Savannah C. Lewis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3559267"/>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1736007" y="4171458"/>
            <a:ext cx="4466854" cy="1530612"/>
            <a:chOff x="0" y="0"/>
            <a:chExt cx="1176455" cy="403124"/>
          </a:xfrm>
        </p:grpSpPr>
        <p:sp>
          <p:nvSpPr>
            <p:cNvPr name="Freeform 8" id="8"/>
            <p:cNvSpPr/>
            <p:nvPr/>
          </p:nvSpPr>
          <p:spPr>
            <a:xfrm flipH="false" flipV="false" rot="0">
              <a:off x="0" y="0"/>
              <a:ext cx="1176455" cy="403124"/>
            </a:xfrm>
            <a:custGeom>
              <a:avLst/>
              <a:gdLst/>
              <a:ahLst/>
              <a:cxnLst/>
              <a:rect r="r" b="b" t="t" l="l"/>
              <a:pathLst>
                <a:path h="403124" w="1176455">
                  <a:moveTo>
                    <a:pt x="0" y="0"/>
                  </a:moveTo>
                  <a:lnTo>
                    <a:pt x="1176455" y="0"/>
                  </a:lnTo>
                  <a:lnTo>
                    <a:pt x="1176455" y="403124"/>
                  </a:lnTo>
                  <a:lnTo>
                    <a:pt x="0" y="403124"/>
                  </a:lnTo>
                  <a:close/>
                </a:path>
              </a:pathLst>
            </a:custGeom>
            <a:solidFill>
              <a:srgbClr val="163C3F"/>
            </a:solidFill>
          </p:spPr>
        </p:sp>
        <p:sp>
          <p:nvSpPr>
            <p:cNvPr name="TextBox 9" id="9"/>
            <p:cNvSpPr txBox="true"/>
            <p:nvPr/>
          </p:nvSpPr>
          <p:spPr>
            <a:xfrm>
              <a:off x="0" y="-38100"/>
              <a:ext cx="1176455" cy="441224"/>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6061351" y="2164536"/>
            <a:ext cx="6165298"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AGENDA</a:t>
            </a:r>
          </a:p>
        </p:txBody>
      </p:sp>
      <p:sp>
        <p:nvSpPr>
          <p:cNvPr name="TextBox 11" id="11"/>
          <p:cNvSpPr txBox="true"/>
          <p:nvPr/>
        </p:nvSpPr>
        <p:spPr>
          <a:xfrm rot="0">
            <a:off x="1614864" y="4549415"/>
            <a:ext cx="4709140" cy="688975"/>
          </a:xfrm>
          <a:prstGeom prst="rect">
            <a:avLst/>
          </a:prstGeom>
        </p:spPr>
        <p:txBody>
          <a:bodyPr anchor="t" rtlCol="false" tIns="0" lIns="0" bIns="0" rIns="0">
            <a:spAutoFit/>
          </a:bodyPr>
          <a:lstStyle/>
          <a:p>
            <a:pPr algn="ctr">
              <a:lnSpc>
                <a:spcPts val="5599"/>
              </a:lnSpc>
            </a:pPr>
            <a:r>
              <a:rPr lang="en-US" sz="3999">
                <a:solidFill>
                  <a:srgbClr val="DCE3EC"/>
                </a:solidFill>
                <a:latin typeface="Arimo"/>
                <a:ea typeface="Arimo"/>
                <a:cs typeface="Arimo"/>
                <a:sym typeface="Arimo"/>
              </a:rPr>
              <a:t>Background</a:t>
            </a:r>
          </a:p>
        </p:txBody>
      </p:sp>
      <p:grpSp>
        <p:nvGrpSpPr>
          <p:cNvPr name="Group 12" id="12"/>
          <p:cNvGrpSpPr/>
          <p:nvPr/>
        </p:nvGrpSpPr>
        <p:grpSpPr>
          <a:xfrm rot="0">
            <a:off x="6916117" y="4171458"/>
            <a:ext cx="4466854" cy="1530612"/>
            <a:chOff x="0" y="0"/>
            <a:chExt cx="1176455" cy="403124"/>
          </a:xfrm>
        </p:grpSpPr>
        <p:sp>
          <p:nvSpPr>
            <p:cNvPr name="Freeform 13" id="13"/>
            <p:cNvSpPr/>
            <p:nvPr/>
          </p:nvSpPr>
          <p:spPr>
            <a:xfrm flipH="false" flipV="false" rot="0">
              <a:off x="0" y="0"/>
              <a:ext cx="1176455" cy="403124"/>
            </a:xfrm>
            <a:custGeom>
              <a:avLst/>
              <a:gdLst/>
              <a:ahLst/>
              <a:cxnLst/>
              <a:rect r="r" b="b" t="t" l="l"/>
              <a:pathLst>
                <a:path h="403124" w="1176455">
                  <a:moveTo>
                    <a:pt x="0" y="0"/>
                  </a:moveTo>
                  <a:lnTo>
                    <a:pt x="1176455" y="0"/>
                  </a:lnTo>
                  <a:lnTo>
                    <a:pt x="1176455" y="403124"/>
                  </a:lnTo>
                  <a:lnTo>
                    <a:pt x="0" y="403124"/>
                  </a:lnTo>
                  <a:close/>
                </a:path>
              </a:pathLst>
            </a:custGeom>
            <a:solidFill>
              <a:srgbClr val="245960"/>
            </a:solidFill>
          </p:spPr>
        </p:sp>
        <p:sp>
          <p:nvSpPr>
            <p:cNvPr name="TextBox 14" id="14"/>
            <p:cNvSpPr txBox="true"/>
            <p:nvPr/>
          </p:nvSpPr>
          <p:spPr>
            <a:xfrm>
              <a:off x="0" y="-38100"/>
              <a:ext cx="1176455" cy="441224"/>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6794974" y="4572910"/>
            <a:ext cx="4709140" cy="665480"/>
          </a:xfrm>
          <a:prstGeom prst="rect">
            <a:avLst/>
          </a:prstGeom>
        </p:spPr>
        <p:txBody>
          <a:bodyPr anchor="t" rtlCol="false" tIns="0" lIns="0" bIns="0" rIns="0">
            <a:spAutoFit/>
          </a:bodyPr>
          <a:lstStyle/>
          <a:p>
            <a:pPr algn="ctr">
              <a:lnSpc>
                <a:spcPts val="5320"/>
              </a:lnSpc>
            </a:pPr>
            <a:r>
              <a:rPr lang="en-US" sz="3800">
                <a:solidFill>
                  <a:srgbClr val="DCE3EC"/>
                </a:solidFill>
                <a:latin typeface="Arimo"/>
                <a:ea typeface="Arimo"/>
                <a:cs typeface="Arimo"/>
                <a:sym typeface="Arimo"/>
              </a:rPr>
              <a:t>Research Questions</a:t>
            </a:r>
          </a:p>
        </p:txBody>
      </p:sp>
      <p:grpSp>
        <p:nvGrpSpPr>
          <p:cNvPr name="Group 16" id="16"/>
          <p:cNvGrpSpPr/>
          <p:nvPr/>
        </p:nvGrpSpPr>
        <p:grpSpPr>
          <a:xfrm rot="0">
            <a:off x="12085139" y="4171458"/>
            <a:ext cx="4466854" cy="1530612"/>
            <a:chOff x="0" y="0"/>
            <a:chExt cx="1176455" cy="403124"/>
          </a:xfrm>
        </p:grpSpPr>
        <p:sp>
          <p:nvSpPr>
            <p:cNvPr name="Freeform 17" id="17"/>
            <p:cNvSpPr/>
            <p:nvPr/>
          </p:nvSpPr>
          <p:spPr>
            <a:xfrm flipH="false" flipV="false" rot="0">
              <a:off x="0" y="0"/>
              <a:ext cx="1176455" cy="403124"/>
            </a:xfrm>
            <a:custGeom>
              <a:avLst/>
              <a:gdLst/>
              <a:ahLst/>
              <a:cxnLst/>
              <a:rect r="r" b="b" t="t" l="l"/>
              <a:pathLst>
                <a:path h="403124" w="1176455">
                  <a:moveTo>
                    <a:pt x="0" y="0"/>
                  </a:moveTo>
                  <a:lnTo>
                    <a:pt x="1176455" y="0"/>
                  </a:lnTo>
                  <a:lnTo>
                    <a:pt x="1176455" y="403124"/>
                  </a:lnTo>
                  <a:lnTo>
                    <a:pt x="0" y="403124"/>
                  </a:lnTo>
                  <a:close/>
                </a:path>
              </a:pathLst>
            </a:custGeom>
            <a:solidFill>
              <a:srgbClr val="163C3F"/>
            </a:solidFill>
          </p:spPr>
        </p:sp>
        <p:sp>
          <p:nvSpPr>
            <p:cNvPr name="TextBox 18" id="18"/>
            <p:cNvSpPr txBox="true"/>
            <p:nvPr/>
          </p:nvSpPr>
          <p:spPr>
            <a:xfrm>
              <a:off x="0" y="-38100"/>
              <a:ext cx="1176455" cy="441224"/>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12622131" y="4549415"/>
            <a:ext cx="3624069" cy="688975"/>
          </a:xfrm>
          <a:prstGeom prst="rect">
            <a:avLst/>
          </a:prstGeom>
        </p:spPr>
        <p:txBody>
          <a:bodyPr anchor="t" rtlCol="false" tIns="0" lIns="0" bIns="0" rIns="0">
            <a:spAutoFit/>
          </a:bodyPr>
          <a:lstStyle/>
          <a:p>
            <a:pPr algn="ctr">
              <a:lnSpc>
                <a:spcPts val="5599"/>
              </a:lnSpc>
            </a:pPr>
            <a:r>
              <a:rPr lang="en-US" sz="3999">
                <a:solidFill>
                  <a:srgbClr val="DCE3EC"/>
                </a:solidFill>
                <a:latin typeface="Arimo"/>
                <a:ea typeface="Arimo"/>
                <a:cs typeface="Arimo"/>
                <a:sym typeface="Arimo"/>
              </a:rPr>
              <a:t>Methods</a:t>
            </a:r>
          </a:p>
        </p:txBody>
      </p:sp>
      <p:grpSp>
        <p:nvGrpSpPr>
          <p:cNvPr name="Group 20" id="20"/>
          <p:cNvGrpSpPr/>
          <p:nvPr/>
        </p:nvGrpSpPr>
        <p:grpSpPr>
          <a:xfrm rot="0">
            <a:off x="4378300" y="6366235"/>
            <a:ext cx="4466854" cy="1530612"/>
            <a:chOff x="0" y="0"/>
            <a:chExt cx="1176455" cy="403124"/>
          </a:xfrm>
        </p:grpSpPr>
        <p:sp>
          <p:nvSpPr>
            <p:cNvPr name="Freeform 21" id="21"/>
            <p:cNvSpPr/>
            <p:nvPr/>
          </p:nvSpPr>
          <p:spPr>
            <a:xfrm flipH="false" flipV="false" rot="0">
              <a:off x="0" y="0"/>
              <a:ext cx="1176455" cy="403124"/>
            </a:xfrm>
            <a:custGeom>
              <a:avLst/>
              <a:gdLst/>
              <a:ahLst/>
              <a:cxnLst/>
              <a:rect r="r" b="b" t="t" l="l"/>
              <a:pathLst>
                <a:path h="403124" w="1176455">
                  <a:moveTo>
                    <a:pt x="0" y="0"/>
                  </a:moveTo>
                  <a:lnTo>
                    <a:pt x="1176455" y="0"/>
                  </a:lnTo>
                  <a:lnTo>
                    <a:pt x="1176455" y="403124"/>
                  </a:lnTo>
                  <a:lnTo>
                    <a:pt x="0" y="403124"/>
                  </a:lnTo>
                  <a:close/>
                </a:path>
              </a:pathLst>
            </a:custGeom>
            <a:solidFill>
              <a:srgbClr val="245960"/>
            </a:solidFill>
          </p:spPr>
        </p:sp>
        <p:sp>
          <p:nvSpPr>
            <p:cNvPr name="TextBox 22" id="22"/>
            <p:cNvSpPr txBox="true"/>
            <p:nvPr/>
          </p:nvSpPr>
          <p:spPr>
            <a:xfrm>
              <a:off x="0" y="-38100"/>
              <a:ext cx="1176455" cy="441224"/>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9851712" y="6366235"/>
            <a:ext cx="4466854" cy="1530612"/>
            <a:chOff x="0" y="0"/>
            <a:chExt cx="1176455" cy="403124"/>
          </a:xfrm>
        </p:grpSpPr>
        <p:sp>
          <p:nvSpPr>
            <p:cNvPr name="Freeform 24" id="24"/>
            <p:cNvSpPr/>
            <p:nvPr/>
          </p:nvSpPr>
          <p:spPr>
            <a:xfrm flipH="false" flipV="false" rot="0">
              <a:off x="0" y="0"/>
              <a:ext cx="1176455" cy="403124"/>
            </a:xfrm>
            <a:custGeom>
              <a:avLst/>
              <a:gdLst/>
              <a:ahLst/>
              <a:cxnLst/>
              <a:rect r="r" b="b" t="t" l="l"/>
              <a:pathLst>
                <a:path h="403124" w="1176455">
                  <a:moveTo>
                    <a:pt x="0" y="0"/>
                  </a:moveTo>
                  <a:lnTo>
                    <a:pt x="1176455" y="0"/>
                  </a:lnTo>
                  <a:lnTo>
                    <a:pt x="1176455" y="403124"/>
                  </a:lnTo>
                  <a:lnTo>
                    <a:pt x="0" y="403124"/>
                  </a:lnTo>
                  <a:close/>
                </a:path>
              </a:pathLst>
            </a:custGeom>
            <a:solidFill>
              <a:srgbClr val="245960"/>
            </a:solidFill>
          </p:spPr>
        </p:sp>
        <p:sp>
          <p:nvSpPr>
            <p:cNvPr name="TextBox 25" id="25"/>
            <p:cNvSpPr txBox="true"/>
            <p:nvPr/>
          </p:nvSpPr>
          <p:spPr>
            <a:xfrm>
              <a:off x="0" y="-38100"/>
              <a:ext cx="1176455" cy="441224"/>
            </a:xfrm>
            <a:prstGeom prst="rect">
              <a:avLst/>
            </a:prstGeom>
          </p:spPr>
          <p:txBody>
            <a:bodyPr anchor="ctr" rtlCol="false" tIns="50800" lIns="50800" bIns="50800" rIns="50800"/>
            <a:lstStyle/>
            <a:p>
              <a:pPr algn="ctr">
                <a:lnSpc>
                  <a:spcPts val="2659"/>
                </a:lnSpc>
                <a:spcBef>
                  <a:spcPct val="0"/>
                </a:spcBef>
              </a:pPr>
            </a:p>
          </p:txBody>
        </p:sp>
      </p:grpSp>
      <p:sp>
        <p:nvSpPr>
          <p:cNvPr name="TextBox 26" id="26"/>
          <p:cNvSpPr txBox="true"/>
          <p:nvPr/>
        </p:nvSpPr>
        <p:spPr>
          <a:xfrm rot="0">
            <a:off x="4257158" y="6744192"/>
            <a:ext cx="4709140" cy="688975"/>
          </a:xfrm>
          <a:prstGeom prst="rect">
            <a:avLst/>
          </a:prstGeom>
        </p:spPr>
        <p:txBody>
          <a:bodyPr anchor="t" rtlCol="false" tIns="0" lIns="0" bIns="0" rIns="0">
            <a:spAutoFit/>
          </a:bodyPr>
          <a:lstStyle/>
          <a:p>
            <a:pPr algn="ctr">
              <a:lnSpc>
                <a:spcPts val="5599"/>
              </a:lnSpc>
            </a:pPr>
            <a:r>
              <a:rPr lang="en-US" sz="3999">
                <a:solidFill>
                  <a:srgbClr val="DCE3EC"/>
                </a:solidFill>
                <a:latin typeface="Arimo"/>
                <a:ea typeface="Arimo"/>
                <a:cs typeface="Arimo"/>
                <a:sym typeface="Arimo"/>
              </a:rPr>
              <a:t>Plan Analyses</a:t>
            </a:r>
          </a:p>
        </p:txBody>
      </p:sp>
      <p:sp>
        <p:nvSpPr>
          <p:cNvPr name="TextBox 27" id="27"/>
          <p:cNvSpPr txBox="true"/>
          <p:nvPr/>
        </p:nvSpPr>
        <p:spPr>
          <a:xfrm rot="0">
            <a:off x="9872079" y="6744192"/>
            <a:ext cx="4709140" cy="688975"/>
          </a:xfrm>
          <a:prstGeom prst="rect">
            <a:avLst/>
          </a:prstGeom>
        </p:spPr>
        <p:txBody>
          <a:bodyPr anchor="t" rtlCol="false" tIns="0" lIns="0" bIns="0" rIns="0">
            <a:spAutoFit/>
          </a:bodyPr>
          <a:lstStyle/>
          <a:p>
            <a:pPr algn="ctr">
              <a:lnSpc>
                <a:spcPts val="5599"/>
              </a:lnSpc>
            </a:pPr>
            <a:r>
              <a:rPr lang="en-US" sz="3999">
                <a:solidFill>
                  <a:srgbClr val="DCE3EC"/>
                </a:solidFill>
                <a:latin typeface="Arimo"/>
                <a:ea typeface="Arimo"/>
                <a:cs typeface="Arimo"/>
                <a:sym typeface="Arimo"/>
              </a:rPr>
              <a:t>Feedback</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5486400" y="3425917"/>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6061351" y="2164536"/>
            <a:ext cx="6165298"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BACKGROUND</a:t>
            </a:r>
          </a:p>
        </p:txBody>
      </p:sp>
      <p:sp>
        <p:nvSpPr>
          <p:cNvPr name="TextBox 8" id="8"/>
          <p:cNvSpPr txBox="true"/>
          <p:nvPr/>
        </p:nvSpPr>
        <p:spPr>
          <a:xfrm rot="0">
            <a:off x="2156101" y="4291822"/>
            <a:ext cx="13975798" cy="479996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163C3F"/>
                </a:solidFill>
                <a:latin typeface="Arimo"/>
                <a:ea typeface="Arimo"/>
                <a:cs typeface="Arimo"/>
                <a:sym typeface="Arimo"/>
              </a:rPr>
              <a:t>Studies show 50–96% of researchers have engaged in at least one QRP. </a:t>
            </a:r>
          </a:p>
          <a:p>
            <a:pPr algn="l" marL="734059" indent="-367030" lvl="1">
              <a:lnSpc>
                <a:spcPts val="4759"/>
              </a:lnSpc>
              <a:buFont typeface="Arial"/>
              <a:buChar char="•"/>
            </a:pPr>
            <a:r>
              <a:rPr lang="en-US" sz="3399">
                <a:solidFill>
                  <a:srgbClr val="163C3F"/>
                </a:solidFill>
                <a:latin typeface="Arimo"/>
                <a:ea typeface="Arimo"/>
                <a:cs typeface="Arimo"/>
                <a:sym typeface="Arimo"/>
              </a:rPr>
              <a:t>QRPs reduce scientific credibility and reproducibility.</a:t>
            </a:r>
          </a:p>
          <a:p>
            <a:pPr algn="l" marL="734059" indent="-367030" lvl="1">
              <a:lnSpc>
                <a:spcPts val="4759"/>
              </a:lnSpc>
              <a:buFont typeface="Arial"/>
              <a:buChar char="•"/>
            </a:pPr>
            <a:r>
              <a:rPr lang="en-US" sz="3399">
                <a:solidFill>
                  <a:srgbClr val="163C3F"/>
                </a:solidFill>
                <a:latin typeface="Arimo"/>
                <a:ea typeface="Arimo"/>
                <a:cs typeface="Arimo"/>
                <a:sym typeface="Arimo"/>
              </a:rPr>
              <a:t>Not All QRPs Are Equal</a:t>
            </a:r>
          </a:p>
          <a:p>
            <a:pPr algn="l" marL="734059" indent="-367030" lvl="1">
              <a:lnSpc>
                <a:spcPts val="4759"/>
              </a:lnSpc>
              <a:buFont typeface="Arial"/>
              <a:buChar char="•"/>
            </a:pPr>
            <a:r>
              <a:rPr lang="en-US" sz="3399">
                <a:solidFill>
                  <a:srgbClr val="163C3F"/>
                </a:solidFill>
                <a:latin typeface="Arimo"/>
                <a:ea typeface="Arimo"/>
                <a:cs typeface="Arimo"/>
                <a:sym typeface="Arimo"/>
              </a:rPr>
              <a:t>Perceptions of researchers differ</a:t>
            </a:r>
          </a:p>
          <a:p>
            <a:pPr algn="l" marL="1468119" indent="-489373" lvl="2">
              <a:lnSpc>
                <a:spcPts val="4759"/>
              </a:lnSpc>
              <a:buFont typeface="Arial"/>
              <a:buChar char="⚬"/>
            </a:pPr>
            <a:r>
              <a:rPr lang="en-US" sz="3399">
                <a:solidFill>
                  <a:srgbClr val="163C3F"/>
                </a:solidFill>
                <a:latin typeface="Arimo"/>
                <a:ea typeface="Arimo"/>
                <a:cs typeface="Arimo"/>
                <a:sym typeface="Arimo"/>
              </a:rPr>
              <a:t>Investigator = those who commit QRPs</a:t>
            </a:r>
          </a:p>
          <a:p>
            <a:pPr algn="l" marL="1468119" indent="-489373" lvl="2">
              <a:lnSpc>
                <a:spcPts val="4759"/>
              </a:lnSpc>
              <a:buFont typeface="Arial"/>
              <a:buChar char="⚬"/>
            </a:pPr>
            <a:r>
              <a:rPr lang="en-US" sz="3399">
                <a:solidFill>
                  <a:srgbClr val="163C3F"/>
                </a:solidFill>
                <a:latin typeface="Arimo"/>
                <a:ea typeface="Arimo"/>
                <a:cs typeface="Arimo"/>
                <a:sym typeface="Arimo"/>
              </a:rPr>
              <a:t>Inspector</a:t>
            </a:r>
            <a:r>
              <a:rPr lang="en-US" sz="3399">
                <a:solidFill>
                  <a:srgbClr val="163C3F"/>
                </a:solidFill>
                <a:latin typeface="Arimo"/>
                <a:ea typeface="Arimo"/>
                <a:cs typeface="Arimo"/>
                <a:sym typeface="Arimo"/>
              </a:rPr>
              <a:t> = those who report them</a:t>
            </a:r>
          </a:p>
          <a:p>
            <a:pPr algn="ctr">
              <a:lnSpc>
                <a:spcPts val="475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5486400" y="3425917"/>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5303572" y="2126436"/>
            <a:ext cx="7680856"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RESEARCH QUESTIONS</a:t>
            </a:r>
          </a:p>
        </p:txBody>
      </p:sp>
      <p:sp>
        <p:nvSpPr>
          <p:cNvPr name="TextBox 8" id="8"/>
          <p:cNvSpPr txBox="true"/>
          <p:nvPr/>
        </p:nvSpPr>
        <p:spPr>
          <a:xfrm rot="0">
            <a:off x="2212817" y="3858260"/>
            <a:ext cx="13975798" cy="5400040"/>
          </a:xfrm>
          <a:prstGeom prst="rect">
            <a:avLst/>
          </a:prstGeom>
        </p:spPr>
        <p:txBody>
          <a:bodyPr anchor="t" rtlCol="false" tIns="0" lIns="0" bIns="0" rIns="0">
            <a:spAutoFit/>
          </a:bodyPr>
          <a:lstStyle/>
          <a:p>
            <a:pPr algn="l">
              <a:lnSpc>
                <a:spcPts val="4759"/>
              </a:lnSpc>
            </a:pPr>
            <a:r>
              <a:rPr lang="en-US" sz="3399">
                <a:solidFill>
                  <a:srgbClr val="163C3F"/>
                </a:solidFill>
                <a:latin typeface="Arimo"/>
                <a:ea typeface="Arimo"/>
                <a:cs typeface="Arimo"/>
                <a:sym typeface="Arimo"/>
              </a:rPr>
              <a:t>Research Question 1: How is trustworthin</a:t>
            </a:r>
            <a:r>
              <a:rPr lang="en-US" sz="3399">
                <a:solidFill>
                  <a:srgbClr val="163C3F"/>
                </a:solidFill>
                <a:latin typeface="Arimo"/>
                <a:ea typeface="Arimo"/>
                <a:cs typeface="Arimo"/>
                <a:sym typeface="Arimo"/>
              </a:rPr>
              <a:t>ess influenced by role and QRP severity?</a:t>
            </a:r>
          </a:p>
          <a:p>
            <a:pPr algn="l">
              <a:lnSpc>
                <a:spcPts val="4759"/>
              </a:lnSpc>
            </a:pPr>
          </a:p>
          <a:p>
            <a:pPr algn="l">
              <a:lnSpc>
                <a:spcPts val="4759"/>
              </a:lnSpc>
            </a:pPr>
            <a:r>
              <a:rPr lang="en-US" sz="3399">
                <a:solidFill>
                  <a:srgbClr val="163C3F"/>
                </a:solidFill>
                <a:latin typeface="Arimo"/>
                <a:ea typeface="Arimo"/>
                <a:cs typeface="Arimo"/>
                <a:sym typeface="Arimo"/>
              </a:rPr>
              <a:t>Research Question 2: How is likeability influenced by role and QRP severity?</a:t>
            </a:r>
          </a:p>
          <a:p>
            <a:pPr algn="l">
              <a:lnSpc>
                <a:spcPts val="4759"/>
              </a:lnSpc>
            </a:pPr>
          </a:p>
          <a:p>
            <a:pPr algn="l">
              <a:lnSpc>
                <a:spcPts val="4759"/>
              </a:lnSpc>
            </a:pPr>
            <a:r>
              <a:rPr lang="en-US" sz="3399">
                <a:solidFill>
                  <a:srgbClr val="163C3F"/>
                </a:solidFill>
                <a:latin typeface="Arimo"/>
                <a:ea typeface="Arimo"/>
                <a:cs typeface="Arimo"/>
                <a:sym typeface="Arimo"/>
              </a:rPr>
              <a:t>Research Question 3: Is the perceived trueness of the finding influenced by QRP severity? </a:t>
            </a:r>
          </a:p>
          <a:p>
            <a:pPr algn="l">
              <a:lnSpc>
                <a:spcPts val="475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5486400" y="4248242"/>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7" id="7"/>
          <p:cNvGrpSpPr/>
          <p:nvPr/>
        </p:nvGrpSpPr>
        <p:grpSpPr>
          <a:xfrm rot="0">
            <a:off x="3477463" y="5928085"/>
            <a:ext cx="5376025" cy="1530612"/>
            <a:chOff x="0" y="0"/>
            <a:chExt cx="1415908" cy="403124"/>
          </a:xfrm>
        </p:grpSpPr>
        <p:sp>
          <p:nvSpPr>
            <p:cNvPr name="Freeform 8" id="8"/>
            <p:cNvSpPr/>
            <p:nvPr/>
          </p:nvSpPr>
          <p:spPr>
            <a:xfrm flipH="false" flipV="false" rot="0">
              <a:off x="0" y="0"/>
              <a:ext cx="1415908" cy="403124"/>
            </a:xfrm>
            <a:custGeom>
              <a:avLst/>
              <a:gdLst/>
              <a:ahLst/>
              <a:cxnLst/>
              <a:rect r="r" b="b" t="t" l="l"/>
              <a:pathLst>
                <a:path h="403124" w="1415908">
                  <a:moveTo>
                    <a:pt x="0" y="0"/>
                  </a:moveTo>
                  <a:lnTo>
                    <a:pt x="1415908" y="0"/>
                  </a:lnTo>
                  <a:lnTo>
                    <a:pt x="1415908" y="403124"/>
                  </a:lnTo>
                  <a:lnTo>
                    <a:pt x="0" y="403124"/>
                  </a:lnTo>
                  <a:close/>
                </a:path>
              </a:pathLst>
            </a:custGeom>
            <a:solidFill>
              <a:srgbClr val="F3B6C1"/>
            </a:solidFill>
          </p:spPr>
        </p:sp>
        <p:sp>
          <p:nvSpPr>
            <p:cNvPr name="TextBox 9" id="9"/>
            <p:cNvSpPr txBox="true"/>
            <p:nvPr/>
          </p:nvSpPr>
          <p:spPr>
            <a:xfrm>
              <a:off x="0" y="-38100"/>
              <a:ext cx="1415908" cy="441224"/>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810905" y="5953617"/>
            <a:ext cx="4709140" cy="1393825"/>
          </a:xfrm>
          <a:prstGeom prst="rect">
            <a:avLst/>
          </a:prstGeom>
        </p:spPr>
        <p:txBody>
          <a:bodyPr anchor="t" rtlCol="false" tIns="0" lIns="0" bIns="0" rIns="0">
            <a:spAutoFit/>
          </a:bodyPr>
          <a:lstStyle/>
          <a:p>
            <a:pPr algn="ctr">
              <a:lnSpc>
                <a:spcPts val="5599"/>
              </a:lnSpc>
            </a:pPr>
            <a:r>
              <a:rPr lang="en-US" sz="3999">
                <a:solidFill>
                  <a:srgbClr val="163C3F"/>
                </a:solidFill>
                <a:latin typeface="Arimo"/>
                <a:ea typeface="Arimo"/>
                <a:cs typeface="Arimo"/>
                <a:sym typeface="Arimo"/>
              </a:rPr>
              <a:t>2 x 3 fully within-subjects design</a:t>
            </a:r>
          </a:p>
        </p:txBody>
      </p:sp>
      <p:grpSp>
        <p:nvGrpSpPr>
          <p:cNvPr name="Group 11" id="11"/>
          <p:cNvGrpSpPr/>
          <p:nvPr/>
        </p:nvGrpSpPr>
        <p:grpSpPr>
          <a:xfrm rot="0">
            <a:off x="9555655" y="5928085"/>
            <a:ext cx="4981673" cy="1530612"/>
            <a:chOff x="0" y="0"/>
            <a:chExt cx="1312046" cy="403124"/>
          </a:xfrm>
        </p:grpSpPr>
        <p:sp>
          <p:nvSpPr>
            <p:cNvPr name="Freeform 12" id="12"/>
            <p:cNvSpPr/>
            <p:nvPr/>
          </p:nvSpPr>
          <p:spPr>
            <a:xfrm flipH="false" flipV="false" rot="0">
              <a:off x="0" y="0"/>
              <a:ext cx="1312046" cy="403124"/>
            </a:xfrm>
            <a:custGeom>
              <a:avLst/>
              <a:gdLst/>
              <a:ahLst/>
              <a:cxnLst/>
              <a:rect r="r" b="b" t="t" l="l"/>
              <a:pathLst>
                <a:path h="403124" w="1312046">
                  <a:moveTo>
                    <a:pt x="0" y="0"/>
                  </a:moveTo>
                  <a:lnTo>
                    <a:pt x="1312046" y="0"/>
                  </a:lnTo>
                  <a:lnTo>
                    <a:pt x="1312046" y="403124"/>
                  </a:lnTo>
                  <a:lnTo>
                    <a:pt x="0" y="403124"/>
                  </a:lnTo>
                  <a:close/>
                </a:path>
              </a:pathLst>
            </a:custGeom>
            <a:solidFill>
              <a:srgbClr val="163C3F"/>
            </a:solidFill>
          </p:spPr>
        </p:sp>
        <p:sp>
          <p:nvSpPr>
            <p:cNvPr name="TextBox 13" id="13"/>
            <p:cNvSpPr txBox="true"/>
            <p:nvPr/>
          </p:nvSpPr>
          <p:spPr>
            <a:xfrm>
              <a:off x="0" y="-38100"/>
              <a:ext cx="1312046" cy="441224"/>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34457" y="5953617"/>
            <a:ext cx="3624069" cy="1393825"/>
          </a:xfrm>
          <a:prstGeom prst="rect">
            <a:avLst/>
          </a:prstGeom>
        </p:spPr>
        <p:txBody>
          <a:bodyPr anchor="t" rtlCol="false" tIns="0" lIns="0" bIns="0" rIns="0">
            <a:spAutoFit/>
          </a:bodyPr>
          <a:lstStyle/>
          <a:p>
            <a:pPr algn="ctr">
              <a:lnSpc>
                <a:spcPts val="5599"/>
              </a:lnSpc>
            </a:pPr>
            <a:r>
              <a:rPr lang="en-US" sz="3999">
                <a:solidFill>
                  <a:srgbClr val="DCE3EC"/>
                </a:solidFill>
                <a:latin typeface="Arimo"/>
                <a:ea typeface="Arimo"/>
                <a:cs typeface="Arimo"/>
                <a:sym typeface="Arimo"/>
              </a:rPr>
              <a:t>Researcher vs QRPs Severity</a:t>
            </a:r>
          </a:p>
        </p:txBody>
      </p:sp>
      <p:sp>
        <p:nvSpPr>
          <p:cNvPr name="TextBox 15" id="15"/>
          <p:cNvSpPr txBox="true"/>
          <p:nvPr/>
        </p:nvSpPr>
        <p:spPr>
          <a:xfrm rot="0">
            <a:off x="4429474" y="2128976"/>
            <a:ext cx="9429052" cy="1811020"/>
          </a:xfrm>
          <a:prstGeom prst="rect">
            <a:avLst/>
          </a:prstGeom>
        </p:spPr>
        <p:txBody>
          <a:bodyPr anchor="t" rtlCol="false" tIns="0" lIns="0" bIns="0" rIns="0">
            <a:spAutoFit/>
          </a:bodyPr>
          <a:lstStyle/>
          <a:p>
            <a:pPr algn="ctr">
              <a:lnSpc>
                <a:spcPts val="7279"/>
              </a:lnSpc>
            </a:pPr>
            <a:r>
              <a:rPr lang="en-US" b="true" sz="5199">
                <a:solidFill>
                  <a:srgbClr val="163C3F"/>
                </a:solidFill>
                <a:latin typeface="Roca Two Bold"/>
                <a:ea typeface="Roca Two Bold"/>
                <a:cs typeface="Roca Two Bold"/>
                <a:sym typeface="Roca Two Bold"/>
              </a:rPr>
              <a:t>THE CURRENT PROJECT IDEA</a:t>
            </a:r>
          </a:p>
        </p:txBody>
      </p:sp>
      <p:grpSp>
        <p:nvGrpSpPr>
          <p:cNvPr name="Group 16" id="16"/>
          <p:cNvGrpSpPr/>
          <p:nvPr/>
        </p:nvGrpSpPr>
        <p:grpSpPr>
          <a:xfrm rot="0">
            <a:off x="6455988" y="8084364"/>
            <a:ext cx="5376025" cy="1530612"/>
            <a:chOff x="0" y="0"/>
            <a:chExt cx="1415908" cy="403124"/>
          </a:xfrm>
        </p:grpSpPr>
        <p:sp>
          <p:nvSpPr>
            <p:cNvPr name="Freeform 17" id="17"/>
            <p:cNvSpPr/>
            <p:nvPr/>
          </p:nvSpPr>
          <p:spPr>
            <a:xfrm flipH="false" flipV="false" rot="0">
              <a:off x="0" y="0"/>
              <a:ext cx="1415908" cy="403124"/>
            </a:xfrm>
            <a:custGeom>
              <a:avLst/>
              <a:gdLst/>
              <a:ahLst/>
              <a:cxnLst/>
              <a:rect r="r" b="b" t="t" l="l"/>
              <a:pathLst>
                <a:path h="403124" w="1415908">
                  <a:moveTo>
                    <a:pt x="0" y="0"/>
                  </a:moveTo>
                  <a:lnTo>
                    <a:pt x="1415908" y="0"/>
                  </a:lnTo>
                  <a:lnTo>
                    <a:pt x="1415908" y="403124"/>
                  </a:lnTo>
                  <a:lnTo>
                    <a:pt x="0" y="403124"/>
                  </a:lnTo>
                  <a:close/>
                </a:path>
              </a:pathLst>
            </a:custGeom>
            <a:solidFill>
              <a:srgbClr val="245960"/>
            </a:solidFill>
          </p:spPr>
        </p:sp>
        <p:sp>
          <p:nvSpPr>
            <p:cNvPr name="TextBox 18" id="18"/>
            <p:cNvSpPr txBox="true"/>
            <p:nvPr/>
          </p:nvSpPr>
          <p:spPr>
            <a:xfrm>
              <a:off x="0" y="-38100"/>
              <a:ext cx="1415908" cy="441224"/>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6789430" y="8165775"/>
            <a:ext cx="4709140" cy="1199516"/>
          </a:xfrm>
          <a:prstGeom prst="rect">
            <a:avLst/>
          </a:prstGeom>
        </p:spPr>
        <p:txBody>
          <a:bodyPr anchor="t" rtlCol="false" tIns="0" lIns="0" bIns="0" rIns="0">
            <a:spAutoFit/>
          </a:bodyPr>
          <a:lstStyle/>
          <a:p>
            <a:pPr algn="ctr">
              <a:lnSpc>
                <a:spcPts val="4759"/>
              </a:lnSpc>
            </a:pPr>
            <a:r>
              <a:rPr lang="en-US" sz="3399">
                <a:solidFill>
                  <a:srgbClr val="DCE3EC"/>
                </a:solidFill>
                <a:latin typeface="Arimo"/>
                <a:ea typeface="Arimo"/>
                <a:cs typeface="Arimo"/>
                <a:sym typeface="Arimo"/>
              </a:rPr>
              <a:t>Trust, Likeability, and trueness of the findings</a:t>
            </a:r>
          </a:p>
        </p:txBody>
      </p:sp>
      <p:sp>
        <p:nvSpPr>
          <p:cNvPr name="TextBox 20" id="20"/>
          <p:cNvSpPr txBox="true"/>
          <p:nvPr/>
        </p:nvSpPr>
        <p:spPr>
          <a:xfrm rot="0">
            <a:off x="9139238" y="5015865"/>
            <a:ext cx="9525" cy="264795"/>
          </a:xfrm>
          <a:prstGeom prst="rect">
            <a:avLst/>
          </a:prstGeom>
        </p:spPr>
        <p:txBody>
          <a:bodyPr anchor="t" rtlCol="false" tIns="0" lIns="0" bIns="0" rIns="0">
            <a:spAutoFit/>
          </a:bodyPr>
          <a:lstStyle/>
          <a:p>
            <a:pPr algn="ctr">
              <a:lnSpc>
                <a:spcPts val="180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TextBox 2" id="2"/>
          <p:cNvSpPr txBox="true"/>
          <p:nvPr/>
        </p:nvSpPr>
        <p:spPr>
          <a:xfrm rot="0">
            <a:off x="1028700" y="990600"/>
            <a:ext cx="16230600" cy="7932421"/>
          </a:xfrm>
          <a:prstGeom prst="rect">
            <a:avLst/>
          </a:prstGeom>
        </p:spPr>
        <p:txBody>
          <a:bodyPr anchor="t" rtlCol="false" tIns="0" lIns="0" bIns="0" rIns="0">
            <a:spAutoFit/>
          </a:bodyPr>
          <a:lstStyle/>
          <a:p>
            <a:pPr algn="l">
              <a:lnSpc>
                <a:spcPts val="3499"/>
              </a:lnSpc>
            </a:pPr>
            <a:r>
              <a:rPr lang="en-US" sz="2499">
                <a:solidFill>
                  <a:srgbClr val="000000"/>
                </a:solidFill>
                <a:latin typeface="Roca Two"/>
                <a:ea typeface="Roca Two"/>
                <a:cs typeface="Roca Two"/>
                <a:sym typeface="Roca Two"/>
              </a:rPr>
              <a:t>Trust in Scientists (Cologna et al, 2025) (Shortened Subset by S. Lewis)</a:t>
            </a:r>
          </a:p>
          <a:p>
            <a:pPr algn="l">
              <a:lnSpc>
                <a:spcPts val="3499"/>
              </a:lnSpc>
            </a:pPr>
          </a:p>
          <a:p>
            <a:pPr algn="l">
              <a:lnSpc>
                <a:spcPts val="3499"/>
              </a:lnSpc>
            </a:pPr>
            <a:r>
              <a:rPr lang="en-US" sz="2499">
                <a:solidFill>
                  <a:srgbClr val="000000"/>
                </a:solidFill>
                <a:latin typeface="Roca Two"/>
                <a:ea typeface="Roca Two"/>
                <a:cs typeface="Roca Two"/>
                <a:sym typeface="Roca Two"/>
              </a:rPr>
              <a:t>Response options varied for each item but are on a 5-point Likert Scale (e.g., 1 = very (unqualified), 2= somewhat (unqualified), 3 = neither (qualified) nor (unqualified), 4= somewhat (qualified), 5 = very (qualified). </a:t>
            </a:r>
          </a:p>
          <a:p>
            <a:pPr algn="l">
              <a:lnSpc>
                <a:spcPts val="3499"/>
              </a:lnSpc>
            </a:pPr>
          </a:p>
          <a:p>
            <a:pPr algn="l" marL="539746" indent="-269873" lvl="1">
              <a:lnSpc>
                <a:spcPts val="3499"/>
              </a:lnSpc>
              <a:buAutoNum type="arabicPeriod" startAt="1"/>
            </a:pPr>
            <a:r>
              <a:rPr lang="en-US" sz="2499">
                <a:solidFill>
                  <a:srgbClr val="000000"/>
                </a:solidFill>
                <a:latin typeface="Roca Two"/>
                <a:ea typeface="Roca Two"/>
                <a:cs typeface="Roca Two"/>
                <a:sym typeface="Roca Two"/>
              </a:rPr>
              <a:t>Competence </a:t>
            </a:r>
          </a:p>
          <a:p>
            <a:pPr algn="l" marL="1079492" indent="-359831" lvl="2">
              <a:lnSpc>
                <a:spcPts val="3499"/>
              </a:lnSpc>
              <a:buAutoNum type="alphaLcPeriod" startAt="1"/>
            </a:pPr>
            <a:r>
              <a:rPr lang="en-US" sz="2499">
                <a:solidFill>
                  <a:srgbClr val="000000"/>
                </a:solidFill>
                <a:latin typeface="Roca Two"/>
                <a:ea typeface="Roca Two"/>
                <a:cs typeface="Roca Two"/>
                <a:sym typeface="Roca Two"/>
              </a:rPr>
              <a:t>How qualified or unqualified is researcher X when it comes to conducting high-quality research?</a:t>
            </a:r>
          </a:p>
          <a:p>
            <a:pPr algn="l" marL="1079492" indent="-359831" lvl="2">
              <a:lnSpc>
                <a:spcPts val="3499"/>
              </a:lnSpc>
              <a:buAutoNum type="alphaLcPeriod" startAt="1"/>
            </a:pPr>
            <a:r>
              <a:rPr lang="en-US" sz="2499">
                <a:solidFill>
                  <a:srgbClr val="000000"/>
                </a:solidFill>
                <a:latin typeface="Roca Two"/>
                <a:ea typeface="Roca Two"/>
                <a:cs typeface="Roca Two"/>
                <a:sym typeface="Roca Two"/>
              </a:rPr>
              <a:t> </a:t>
            </a:r>
            <a:r>
              <a:rPr lang="en-US" sz="2499">
                <a:solidFill>
                  <a:srgbClr val="000000"/>
                </a:solidFill>
                <a:latin typeface="Roca Two"/>
                <a:ea typeface="Roca Two"/>
                <a:cs typeface="Roca Two"/>
                <a:sym typeface="Roca Two"/>
              </a:rPr>
              <a:t>How qualified or unqualified is researcher Y when it comes to conducting high-quality research?</a:t>
            </a:r>
          </a:p>
          <a:p>
            <a:pPr algn="l" marL="539746" indent="-269873" lvl="1">
              <a:lnSpc>
                <a:spcPts val="3499"/>
              </a:lnSpc>
              <a:buAutoNum type="arabicPeriod" startAt="1"/>
            </a:pPr>
            <a:r>
              <a:rPr lang="en-US" sz="2499">
                <a:solidFill>
                  <a:srgbClr val="000000"/>
                </a:solidFill>
                <a:latin typeface="Roca Two"/>
                <a:ea typeface="Roca Two"/>
                <a:cs typeface="Roca Two"/>
                <a:sym typeface="Roca Two"/>
              </a:rPr>
              <a:t>Benevolence </a:t>
            </a:r>
          </a:p>
          <a:p>
            <a:pPr algn="just" marL="1079492" indent="-359831" lvl="2">
              <a:lnSpc>
                <a:spcPts val="3499"/>
              </a:lnSpc>
              <a:buAutoNum type="alphaLcPeriod" startAt="1"/>
            </a:pPr>
            <a:r>
              <a:rPr lang="en-US" sz="2499">
                <a:solidFill>
                  <a:srgbClr val="000000"/>
                </a:solidFill>
                <a:latin typeface="Roca Two"/>
                <a:ea typeface="Roca Two"/>
                <a:cs typeface="Roca Two"/>
                <a:sym typeface="Roca Two"/>
              </a:rPr>
              <a:t>How considerate or inconsiderate is researcher X of others’ interests?</a:t>
            </a:r>
          </a:p>
          <a:p>
            <a:pPr algn="l" marL="1079492" indent="-359831" lvl="2">
              <a:lnSpc>
                <a:spcPts val="3499"/>
              </a:lnSpc>
              <a:buAutoNum type="alphaLcPeriod" startAt="1"/>
            </a:pPr>
            <a:r>
              <a:rPr lang="en-US" sz="2499">
                <a:solidFill>
                  <a:srgbClr val="000000"/>
                </a:solidFill>
                <a:latin typeface="Roca Two"/>
                <a:ea typeface="Roca Two"/>
                <a:cs typeface="Roca Two"/>
                <a:sym typeface="Roca Two"/>
              </a:rPr>
              <a:t>How considerate or inconsiderate is researcher Y of others’ interests?</a:t>
            </a:r>
          </a:p>
          <a:p>
            <a:pPr algn="l" marL="539746" indent="-269873" lvl="1">
              <a:lnSpc>
                <a:spcPts val="3499"/>
              </a:lnSpc>
              <a:buAutoNum type="arabicPeriod" startAt="1"/>
            </a:pPr>
            <a:r>
              <a:rPr lang="en-US" sz="2499">
                <a:solidFill>
                  <a:srgbClr val="000000"/>
                </a:solidFill>
                <a:latin typeface="Roca Two"/>
                <a:ea typeface="Roca Two"/>
                <a:cs typeface="Roca Two"/>
                <a:sym typeface="Roca Two"/>
              </a:rPr>
              <a:t> </a:t>
            </a:r>
            <a:r>
              <a:rPr lang="en-US" sz="2499">
                <a:solidFill>
                  <a:srgbClr val="000000"/>
                </a:solidFill>
                <a:latin typeface="Roca Two"/>
                <a:ea typeface="Roca Two"/>
                <a:cs typeface="Roca Two"/>
                <a:sym typeface="Roca Two"/>
              </a:rPr>
              <a:t>Integrity </a:t>
            </a:r>
          </a:p>
          <a:p>
            <a:pPr algn="l" marL="1079492" indent="-359831" lvl="2">
              <a:lnSpc>
                <a:spcPts val="3499"/>
              </a:lnSpc>
              <a:buAutoNum type="alphaLcPeriod" startAt="1"/>
            </a:pPr>
            <a:r>
              <a:rPr lang="en-US" sz="2499">
                <a:solidFill>
                  <a:srgbClr val="000000"/>
                </a:solidFill>
                <a:latin typeface="Roca Two"/>
                <a:ea typeface="Roca Two"/>
                <a:cs typeface="Roca Two"/>
                <a:sym typeface="Roca Two"/>
              </a:rPr>
              <a:t>How ethical or unethical is researcher X?</a:t>
            </a:r>
          </a:p>
          <a:p>
            <a:pPr algn="l" marL="1079492" indent="-359831" lvl="2">
              <a:lnSpc>
                <a:spcPts val="3499"/>
              </a:lnSpc>
              <a:buAutoNum type="alphaLcPeriod" startAt="1"/>
            </a:pPr>
            <a:r>
              <a:rPr lang="en-US" sz="2499">
                <a:solidFill>
                  <a:srgbClr val="000000"/>
                </a:solidFill>
                <a:latin typeface="Roca Two"/>
                <a:ea typeface="Roca Two"/>
                <a:cs typeface="Roca Two"/>
                <a:sym typeface="Roca Two"/>
              </a:rPr>
              <a:t>How ethical or unethical is researcher Y?</a:t>
            </a:r>
          </a:p>
          <a:p>
            <a:pPr algn="l" marL="539746" indent="-269873" lvl="1">
              <a:lnSpc>
                <a:spcPts val="3499"/>
              </a:lnSpc>
              <a:buAutoNum type="arabicPeriod" startAt="1"/>
            </a:pPr>
            <a:r>
              <a:rPr lang="en-US" sz="2499">
                <a:solidFill>
                  <a:srgbClr val="000000"/>
                </a:solidFill>
                <a:latin typeface="Roca Two"/>
                <a:ea typeface="Roca Two"/>
                <a:cs typeface="Roca Two"/>
                <a:sym typeface="Roca Two"/>
              </a:rPr>
              <a:t>Tru</a:t>
            </a:r>
            <a:r>
              <a:rPr lang="en-US" sz="2499">
                <a:solidFill>
                  <a:srgbClr val="000000"/>
                </a:solidFill>
                <a:latin typeface="Roca Two"/>
                <a:ea typeface="Roca Two"/>
                <a:cs typeface="Roca Two"/>
                <a:sym typeface="Roca Two"/>
              </a:rPr>
              <a:t>stworthy </a:t>
            </a:r>
          </a:p>
          <a:p>
            <a:pPr algn="l" marL="1079492" indent="-359831" lvl="2">
              <a:lnSpc>
                <a:spcPts val="3499"/>
              </a:lnSpc>
              <a:buAutoNum type="alphaLcPeriod" startAt="1"/>
            </a:pPr>
            <a:r>
              <a:rPr lang="en-US" sz="2499">
                <a:solidFill>
                  <a:srgbClr val="000000"/>
                </a:solidFill>
                <a:latin typeface="Roca Two"/>
                <a:ea typeface="Roca Two"/>
                <a:cs typeface="Roca Two"/>
                <a:sym typeface="Roca Two"/>
              </a:rPr>
              <a:t>How trustworthy or untrustworthy is researcher X?</a:t>
            </a:r>
          </a:p>
          <a:p>
            <a:pPr algn="l" marL="1079492" indent="-359831" lvl="2">
              <a:lnSpc>
                <a:spcPts val="3499"/>
              </a:lnSpc>
              <a:buAutoNum type="alphaLcPeriod" startAt="1"/>
            </a:pPr>
            <a:r>
              <a:rPr lang="en-US" sz="2499">
                <a:solidFill>
                  <a:srgbClr val="000000"/>
                </a:solidFill>
                <a:latin typeface="Roca Two"/>
                <a:ea typeface="Roca Two"/>
                <a:cs typeface="Roca Two"/>
                <a:sym typeface="Roca Two"/>
              </a:rPr>
              <a:t>How trustworthy or untrustworthy is researcher Y?</a:t>
            </a:r>
          </a:p>
          <a:p>
            <a:pPr algn="l">
              <a:lnSpc>
                <a:spcPts val="4059"/>
              </a:lnSpc>
            </a:pPr>
          </a:p>
        </p:txBody>
      </p:sp>
      <p:sp>
        <p:nvSpPr>
          <p:cNvPr name="Freeform 3" id="3"/>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TextBox 2" id="2"/>
          <p:cNvSpPr txBox="true"/>
          <p:nvPr/>
        </p:nvSpPr>
        <p:spPr>
          <a:xfrm rot="0">
            <a:off x="1254425" y="1664335"/>
            <a:ext cx="15808009" cy="6910706"/>
          </a:xfrm>
          <a:prstGeom prst="rect">
            <a:avLst/>
          </a:prstGeom>
        </p:spPr>
        <p:txBody>
          <a:bodyPr anchor="t" rtlCol="false" tIns="0" lIns="0" bIns="0" rIns="0">
            <a:spAutoFit/>
          </a:bodyPr>
          <a:lstStyle/>
          <a:p>
            <a:pPr algn="l">
              <a:lnSpc>
                <a:spcPts val="3919"/>
              </a:lnSpc>
              <a:spcBef>
                <a:spcPct val="0"/>
              </a:spcBef>
            </a:pPr>
            <a:r>
              <a:rPr lang="en-US" sz="2799">
                <a:solidFill>
                  <a:srgbClr val="000000"/>
                </a:solidFill>
                <a:latin typeface="Roca Two"/>
                <a:ea typeface="Roca Two"/>
                <a:cs typeface="Roca Two"/>
                <a:sym typeface="Roca Two"/>
              </a:rPr>
              <a:t>Likeability scale (Reysen, 2005) (Shortened Subset by S. Lewis)</a:t>
            </a:r>
          </a:p>
          <a:p>
            <a:pPr algn="l">
              <a:lnSpc>
                <a:spcPts val="3919"/>
              </a:lnSpc>
              <a:spcBef>
                <a:spcPct val="0"/>
              </a:spcBef>
            </a:pPr>
          </a:p>
          <a:p>
            <a:pPr algn="l">
              <a:lnSpc>
                <a:spcPts val="3919"/>
              </a:lnSpc>
              <a:spcBef>
                <a:spcPct val="0"/>
              </a:spcBef>
            </a:pPr>
            <a:r>
              <a:rPr lang="en-US" sz="2799">
                <a:solidFill>
                  <a:srgbClr val="000000"/>
                </a:solidFill>
                <a:latin typeface="Roca Two"/>
                <a:ea typeface="Roca Two"/>
                <a:cs typeface="Roca Two"/>
                <a:sym typeface="Roca Two"/>
              </a:rPr>
              <a:t>Response options varied for each item but are on a 5-point Likert Scale (e.g., 1 = very (unlikeable, 2= somewhat (unlikeable), 3 = neither (likeable) nor (unlikeable), 4= somewhat ( likeable), 5 = very (likeable). </a:t>
            </a:r>
          </a:p>
          <a:p>
            <a:pPr algn="l">
              <a:lnSpc>
                <a:spcPts val="3919"/>
              </a:lnSpc>
              <a:spcBef>
                <a:spcPct val="0"/>
              </a:spcBef>
            </a:pPr>
          </a:p>
          <a:p>
            <a:pPr algn="l">
              <a:lnSpc>
                <a:spcPts val="3919"/>
              </a:lnSpc>
            </a:pPr>
          </a:p>
          <a:p>
            <a:pPr algn="l" marL="604515" indent="-302257" lvl="1">
              <a:lnSpc>
                <a:spcPts val="3919"/>
              </a:lnSpc>
              <a:buAutoNum type="arabicPeriod" startAt="1"/>
            </a:pPr>
            <a:r>
              <a:rPr lang="en-US" sz="2799">
                <a:solidFill>
                  <a:srgbClr val="000000"/>
                </a:solidFill>
                <a:latin typeface="Roca Two"/>
                <a:ea typeface="Roca Two"/>
                <a:cs typeface="Roca Two"/>
                <a:sym typeface="Roca Two"/>
              </a:rPr>
              <a:t> Likeable </a:t>
            </a:r>
          </a:p>
          <a:p>
            <a:pPr algn="l" marL="1209029" indent="-403010" lvl="2">
              <a:lnSpc>
                <a:spcPts val="3919"/>
              </a:lnSpc>
              <a:buAutoNum type="alphaLcPeriod" startAt="1"/>
            </a:pPr>
            <a:r>
              <a:rPr lang="en-US" sz="2799">
                <a:solidFill>
                  <a:srgbClr val="000000"/>
                </a:solidFill>
                <a:latin typeface="Roca Two"/>
                <a:ea typeface="Roca Two"/>
                <a:cs typeface="Roca Two"/>
                <a:sym typeface="Roca Two"/>
              </a:rPr>
              <a:t>How likeable or unlikeable is researcher X?</a:t>
            </a:r>
          </a:p>
          <a:p>
            <a:pPr algn="l" marL="1209029" indent="-403010" lvl="2">
              <a:lnSpc>
                <a:spcPts val="3919"/>
              </a:lnSpc>
              <a:buAutoNum type="alphaLcPeriod" startAt="1"/>
            </a:pPr>
            <a:r>
              <a:rPr lang="en-US" sz="2799">
                <a:solidFill>
                  <a:srgbClr val="000000"/>
                </a:solidFill>
                <a:latin typeface="Roca Two"/>
                <a:ea typeface="Roca Two"/>
                <a:cs typeface="Roca Two"/>
                <a:sym typeface="Roca Two"/>
              </a:rPr>
              <a:t>How likeable or unlikeable is researcher Y?</a:t>
            </a:r>
          </a:p>
          <a:p>
            <a:pPr algn="l" marL="604515" indent="-302257" lvl="1">
              <a:lnSpc>
                <a:spcPts val="3919"/>
              </a:lnSpc>
              <a:buAutoNum type="arabicPeriod" startAt="1"/>
            </a:pPr>
            <a:r>
              <a:rPr lang="en-US" sz="2799">
                <a:solidFill>
                  <a:srgbClr val="000000"/>
                </a:solidFill>
                <a:latin typeface="Roca Two"/>
                <a:ea typeface="Roca Two"/>
                <a:cs typeface="Roca Two"/>
                <a:sym typeface="Roca Two"/>
              </a:rPr>
              <a:t>Approachable</a:t>
            </a:r>
          </a:p>
          <a:p>
            <a:pPr algn="l" marL="1209029" indent="-403010" lvl="2">
              <a:lnSpc>
                <a:spcPts val="3919"/>
              </a:lnSpc>
              <a:buAutoNum type="alphaLcPeriod" startAt="1"/>
            </a:pPr>
            <a:r>
              <a:rPr lang="en-US" sz="2799">
                <a:solidFill>
                  <a:srgbClr val="000000"/>
                </a:solidFill>
                <a:latin typeface="Roca Two"/>
                <a:ea typeface="Roca Two"/>
                <a:cs typeface="Roca Two"/>
                <a:sym typeface="Roca Two"/>
              </a:rPr>
              <a:t>How approachable or unapproachable is researcher X?</a:t>
            </a:r>
          </a:p>
          <a:p>
            <a:pPr algn="l" marL="1209029" indent="-403010" lvl="2">
              <a:lnSpc>
                <a:spcPts val="3919"/>
              </a:lnSpc>
              <a:buAutoNum type="alphaLcPeriod" startAt="1"/>
            </a:pPr>
            <a:r>
              <a:rPr lang="en-US" sz="2799">
                <a:solidFill>
                  <a:srgbClr val="000000"/>
                </a:solidFill>
                <a:latin typeface="Roca Two"/>
                <a:ea typeface="Roca Two"/>
                <a:cs typeface="Roca Two"/>
                <a:sym typeface="Roca Two"/>
              </a:rPr>
              <a:t>How approachable or unapproachable is researcher Y?</a:t>
            </a:r>
          </a:p>
          <a:p>
            <a:pPr algn="l">
              <a:lnSpc>
                <a:spcPts val="3919"/>
              </a:lnSpc>
            </a:pPr>
          </a:p>
        </p:txBody>
      </p:sp>
      <p:sp>
        <p:nvSpPr>
          <p:cNvPr name="Freeform 3" id="3"/>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TextBox 2" id="2"/>
          <p:cNvSpPr txBox="true"/>
          <p:nvPr/>
        </p:nvSpPr>
        <p:spPr>
          <a:xfrm rot="0">
            <a:off x="2047676" y="3150235"/>
            <a:ext cx="14192648" cy="3938905"/>
          </a:xfrm>
          <a:prstGeom prst="rect">
            <a:avLst/>
          </a:prstGeom>
        </p:spPr>
        <p:txBody>
          <a:bodyPr anchor="t" rtlCol="false" tIns="0" lIns="0" bIns="0" rIns="0">
            <a:spAutoFit/>
          </a:bodyPr>
          <a:lstStyle/>
          <a:p>
            <a:pPr algn="l">
              <a:lnSpc>
                <a:spcPts val="3919"/>
              </a:lnSpc>
              <a:spcBef>
                <a:spcPct val="0"/>
              </a:spcBef>
            </a:pPr>
            <a:r>
              <a:rPr lang="en-US" sz="2799">
                <a:solidFill>
                  <a:srgbClr val="000000"/>
                </a:solidFill>
                <a:latin typeface="Roca Two"/>
                <a:ea typeface="Roca Two"/>
                <a:cs typeface="Roca Two"/>
                <a:sym typeface="Roca Two"/>
              </a:rPr>
              <a:t>Perceived trueness of the effect (Ebersole et al, 2016) </a:t>
            </a:r>
          </a:p>
          <a:p>
            <a:pPr algn="l">
              <a:lnSpc>
                <a:spcPts val="3919"/>
              </a:lnSpc>
              <a:spcBef>
                <a:spcPct val="0"/>
              </a:spcBef>
            </a:pPr>
          </a:p>
          <a:p>
            <a:pPr algn="l">
              <a:lnSpc>
                <a:spcPts val="3919"/>
              </a:lnSpc>
              <a:spcBef>
                <a:spcPct val="0"/>
              </a:spcBef>
            </a:pPr>
            <a:r>
              <a:rPr lang="en-US" sz="2799">
                <a:solidFill>
                  <a:srgbClr val="000000"/>
                </a:solidFill>
                <a:latin typeface="Roca Two"/>
                <a:ea typeface="Roca Two"/>
                <a:cs typeface="Roca Two"/>
                <a:sym typeface="Roca Two"/>
              </a:rPr>
              <a:t>Response options varied for each item but are on a 5-point Likert Scale (e.g., 1 = very (untrue), 2= somewhat (untrue), 3 = neither (true nor (untrue), 4= somewhat (true), 5 = very (true). </a:t>
            </a:r>
          </a:p>
          <a:p>
            <a:pPr algn="l">
              <a:lnSpc>
                <a:spcPts val="3919"/>
              </a:lnSpc>
              <a:spcBef>
                <a:spcPct val="0"/>
              </a:spcBef>
            </a:pPr>
          </a:p>
          <a:p>
            <a:pPr algn="l" marL="604519" indent="-302260" lvl="1">
              <a:lnSpc>
                <a:spcPts val="3919"/>
              </a:lnSpc>
              <a:buAutoNum type="arabicPeriod" startAt="1"/>
            </a:pPr>
            <a:r>
              <a:rPr lang="en-US" sz="2799">
                <a:solidFill>
                  <a:srgbClr val="000000"/>
                </a:solidFill>
                <a:latin typeface="Roca Two"/>
                <a:ea typeface="Roca Two"/>
                <a:cs typeface="Roca Two"/>
                <a:sym typeface="Roca Two"/>
              </a:rPr>
              <a:t>The </a:t>
            </a:r>
            <a:r>
              <a:rPr lang="en-US" sz="2799">
                <a:solidFill>
                  <a:srgbClr val="000000"/>
                </a:solidFill>
                <a:latin typeface="Roca Two"/>
                <a:ea typeface="Roca Two"/>
                <a:cs typeface="Roca Two"/>
                <a:sym typeface="Roca Two"/>
              </a:rPr>
              <a:t>original effects</a:t>
            </a:r>
          </a:p>
          <a:p>
            <a:pPr algn="l" marL="1209039" indent="-403013" lvl="2">
              <a:lnSpc>
                <a:spcPts val="3919"/>
              </a:lnSpc>
              <a:buAutoNum type="alphaLcPeriod" startAt="1"/>
            </a:pPr>
            <a:r>
              <a:rPr lang="en-US" sz="2799">
                <a:solidFill>
                  <a:srgbClr val="000000"/>
                </a:solidFill>
                <a:latin typeface="Roca Two"/>
                <a:ea typeface="Roca Two"/>
                <a:cs typeface="Roca Two"/>
                <a:sym typeface="Roca Two"/>
              </a:rPr>
              <a:t> How true or untrue are the results of researcher X?</a:t>
            </a:r>
          </a:p>
        </p:txBody>
      </p:sp>
      <p:sp>
        <p:nvSpPr>
          <p:cNvPr name="Freeform 3" id="3"/>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TextBox 2" id="2"/>
          <p:cNvSpPr txBox="true"/>
          <p:nvPr/>
        </p:nvSpPr>
        <p:spPr>
          <a:xfrm rot="0">
            <a:off x="1294893" y="971550"/>
            <a:ext cx="15294194" cy="7609099"/>
          </a:xfrm>
          <a:prstGeom prst="rect">
            <a:avLst/>
          </a:prstGeom>
        </p:spPr>
        <p:txBody>
          <a:bodyPr anchor="t" rtlCol="false" tIns="0" lIns="0" bIns="0" rIns="0">
            <a:spAutoFit/>
          </a:bodyPr>
          <a:lstStyle/>
          <a:p>
            <a:pPr algn="l">
              <a:lnSpc>
                <a:spcPts val="3750"/>
              </a:lnSpc>
            </a:pPr>
            <a:r>
              <a:rPr lang="en-US" sz="2679">
                <a:solidFill>
                  <a:srgbClr val="000000"/>
                </a:solidFill>
                <a:latin typeface="Roca Two"/>
                <a:ea typeface="Roca Two"/>
                <a:cs typeface="Roca Two"/>
                <a:sym typeface="Roca Two"/>
              </a:rPr>
              <a:t>Attributes of researcher used in Ebersole et al, 2016: </a:t>
            </a:r>
          </a:p>
          <a:p>
            <a:pPr algn="l">
              <a:lnSpc>
                <a:spcPts val="3750"/>
              </a:lnSpc>
            </a:pPr>
          </a:p>
          <a:p>
            <a:pPr algn="l">
              <a:lnSpc>
                <a:spcPts val="3750"/>
              </a:lnSpc>
            </a:pPr>
            <a:r>
              <a:rPr lang="en-US" sz="2679">
                <a:solidFill>
                  <a:srgbClr val="000000"/>
                </a:solidFill>
                <a:latin typeface="Roca Two"/>
                <a:ea typeface="Roca Two"/>
                <a:cs typeface="Roca Two"/>
                <a:sym typeface="Roca Two"/>
              </a:rPr>
              <a:t>Responses will be the selection of either Reported Researcher or Reporting Researcher. </a:t>
            </a:r>
          </a:p>
          <a:p>
            <a:pPr algn="l">
              <a:lnSpc>
                <a:spcPts val="3750"/>
              </a:lnSpc>
            </a:pP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is smarter: Reported Researcher or Reporting Researcher?</a:t>
            </a: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is more ethical: Reported Researcher or Reporting Researcher?</a:t>
            </a: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is a better researcher: Reported Researcher or Reporting Researcher?</a:t>
            </a: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is more creative: Reported Researcher or Reporting Researcher?</a:t>
            </a: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would you rather be: Reported Researcher or Reporting Researcher?</a:t>
            </a: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should you be: Reported Researcher or Reporting Researcher?</a:t>
            </a: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is more like the most celebrated researchers: Reported Researcher or Reporting Researcher?</a:t>
            </a: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is more like the typical researcher: Reported Researcher or Reporting Researcher?</a:t>
            </a: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is more likely to keep a job: Reported Researcher or Reporting Researcher?</a:t>
            </a: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is more likely to get a job: Reported Researcher or Reporting Researcher?</a:t>
            </a:r>
          </a:p>
        </p:txBody>
      </p:sp>
      <p:sp>
        <p:nvSpPr>
          <p:cNvPr name="Freeform 3" id="3"/>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5486400" y="4248242"/>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7" id="7"/>
          <p:cNvGrpSpPr/>
          <p:nvPr/>
        </p:nvGrpSpPr>
        <p:grpSpPr>
          <a:xfrm rot="0">
            <a:off x="3477463" y="5928085"/>
            <a:ext cx="5376025" cy="1530612"/>
            <a:chOff x="0" y="0"/>
            <a:chExt cx="1415908" cy="403124"/>
          </a:xfrm>
        </p:grpSpPr>
        <p:sp>
          <p:nvSpPr>
            <p:cNvPr name="Freeform 8" id="8"/>
            <p:cNvSpPr/>
            <p:nvPr/>
          </p:nvSpPr>
          <p:spPr>
            <a:xfrm flipH="false" flipV="false" rot="0">
              <a:off x="0" y="0"/>
              <a:ext cx="1415908" cy="403124"/>
            </a:xfrm>
            <a:custGeom>
              <a:avLst/>
              <a:gdLst/>
              <a:ahLst/>
              <a:cxnLst/>
              <a:rect r="r" b="b" t="t" l="l"/>
              <a:pathLst>
                <a:path h="403124" w="1415908">
                  <a:moveTo>
                    <a:pt x="0" y="0"/>
                  </a:moveTo>
                  <a:lnTo>
                    <a:pt x="1415908" y="0"/>
                  </a:lnTo>
                  <a:lnTo>
                    <a:pt x="1415908" y="403124"/>
                  </a:lnTo>
                  <a:lnTo>
                    <a:pt x="0" y="403124"/>
                  </a:lnTo>
                  <a:close/>
                </a:path>
              </a:pathLst>
            </a:custGeom>
            <a:solidFill>
              <a:srgbClr val="F3B6C1"/>
            </a:solidFill>
          </p:spPr>
        </p:sp>
        <p:sp>
          <p:nvSpPr>
            <p:cNvPr name="TextBox 9" id="9"/>
            <p:cNvSpPr txBox="true"/>
            <p:nvPr/>
          </p:nvSpPr>
          <p:spPr>
            <a:xfrm>
              <a:off x="0" y="-38100"/>
              <a:ext cx="1415908" cy="441224"/>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810905" y="6306042"/>
            <a:ext cx="4709140" cy="688975"/>
          </a:xfrm>
          <a:prstGeom prst="rect">
            <a:avLst/>
          </a:prstGeom>
        </p:spPr>
        <p:txBody>
          <a:bodyPr anchor="t" rtlCol="false" tIns="0" lIns="0" bIns="0" rIns="0">
            <a:spAutoFit/>
          </a:bodyPr>
          <a:lstStyle/>
          <a:p>
            <a:pPr algn="ctr">
              <a:lnSpc>
                <a:spcPts val="5599"/>
              </a:lnSpc>
            </a:pPr>
            <a:r>
              <a:rPr lang="en-US" sz="3999">
                <a:solidFill>
                  <a:srgbClr val="163C3F"/>
                </a:solidFill>
                <a:latin typeface="Arimo"/>
                <a:ea typeface="Arimo"/>
                <a:cs typeface="Arimo"/>
                <a:sym typeface="Arimo"/>
              </a:rPr>
              <a:t>How we got them?</a:t>
            </a:r>
          </a:p>
        </p:txBody>
      </p:sp>
      <p:grpSp>
        <p:nvGrpSpPr>
          <p:cNvPr name="Group 11" id="11"/>
          <p:cNvGrpSpPr/>
          <p:nvPr/>
        </p:nvGrpSpPr>
        <p:grpSpPr>
          <a:xfrm rot="0">
            <a:off x="9555655" y="5928085"/>
            <a:ext cx="4981673" cy="1530612"/>
            <a:chOff x="0" y="0"/>
            <a:chExt cx="1312046" cy="403124"/>
          </a:xfrm>
        </p:grpSpPr>
        <p:sp>
          <p:nvSpPr>
            <p:cNvPr name="Freeform 12" id="12"/>
            <p:cNvSpPr/>
            <p:nvPr/>
          </p:nvSpPr>
          <p:spPr>
            <a:xfrm flipH="false" flipV="false" rot="0">
              <a:off x="0" y="0"/>
              <a:ext cx="1312046" cy="403124"/>
            </a:xfrm>
            <a:custGeom>
              <a:avLst/>
              <a:gdLst/>
              <a:ahLst/>
              <a:cxnLst/>
              <a:rect r="r" b="b" t="t" l="l"/>
              <a:pathLst>
                <a:path h="403124" w="1312046">
                  <a:moveTo>
                    <a:pt x="0" y="0"/>
                  </a:moveTo>
                  <a:lnTo>
                    <a:pt x="1312046" y="0"/>
                  </a:lnTo>
                  <a:lnTo>
                    <a:pt x="1312046" y="403124"/>
                  </a:lnTo>
                  <a:lnTo>
                    <a:pt x="0" y="403124"/>
                  </a:lnTo>
                  <a:close/>
                </a:path>
              </a:pathLst>
            </a:custGeom>
            <a:solidFill>
              <a:srgbClr val="163C3F"/>
            </a:solidFill>
          </p:spPr>
        </p:sp>
        <p:sp>
          <p:nvSpPr>
            <p:cNvPr name="TextBox 13" id="13"/>
            <p:cNvSpPr txBox="true"/>
            <p:nvPr/>
          </p:nvSpPr>
          <p:spPr>
            <a:xfrm>
              <a:off x="0" y="-38100"/>
              <a:ext cx="1312046" cy="441224"/>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34457" y="6306042"/>
            <a:ext cx="3624069" cy="688975"/>
          </a:xfrm>
          <a:prstGeom prst="rect">
            <a:avLst/>
          </a:prstGeom>
        </p:spPr>
        <p:txBody>
          <a:bodyPr anchor="t" rtlCol="false" tIns="0" lIns="0" bIns="0" rIns="0">
            <a:spAutoFit/>
          </a:bodyPr>
          <a:lstStyle/>
          <a:p>
            <a:pPr algn="ctr">
              <a:lnSpc>
                <a:spcPts val="5599"/>
              </a:lnSpc>
            </a:pPr>
            <a:r>
              <a:rPr lang="en-US" sz="3999">
                <a:solidFill>
                  <a:srgbClr val="DCE3EC"/>
                </a:solidFill>
                <a:latin typeface="Arimo"/>
                <a:ea typeface="Arimo"/>
                <a:cs typeface="Arimo"/>
                <a:sym typeface="Arimo"/>
              </a:rPr>
              <a:t>Structure</a:t>
            </a:r>
          </a:p>
        </p:txBody>
      </p:sp>
      <p:sp>
        <p:nvSpPr>
          <p:cNvPr name="TextBox 15" id="15"/>
          <p:cNvSpPr txBox="true"/>
          <p:nvPr/>
        </p:nvSpPr>
        <p:spPr>
          <a:xfrm rot="0">
            <a:off x="4429474" y="3113497"/>
            <a:ext cx="9429052" cy="887095"/>
          </a:xfrm>
          <a:prstGeom prst="rect">
            <a:avLst/>
          </a:prstGeom>
        </p:spPr>
        <p:txBody>
          <a:bodyPr anchor="t" rtlCol="false" tIns="0" lIns="0" bIns="0" rIns="0">
            <a:spAutoFit/>
          </a:bodyPr>
          <a:lstStyle/>
          <a:p>
            <a:pPr algn="ctr">
              <a:lnSpc>
                <a:spcPts val="7279"/>
              </a:lnSpc>
            </a:pPr>
            <a:r>
              <a:rPr lang="en-US" b="true" sz="5199">
                <a:solidFill>
                  <a:srgbClr val="163C3F"/>
                </a:solidFill>
                <a:latin typeface="Roca Two Bold"/>
                <a:ea typeface="Roca Two Bold"/>
                <a:cs typeface="Roca Two Bold"/>
                <a:sym typeface="Roca Two Bold"/>
              </a:rPr>
              <a:t>VIGNETTES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182765" y="355432"/>
            <a:ext cx="11922470" cy="1739900"/>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MINOR QRP- OVERREACHING ABSTRACT</a:t>
            </a:r>
          </a:p>
        </p:txBody>
      </p:sp>
      <p:sp>
        <p:nvSpPr>
          <p:cNvPr name="TextBox 6" id="6"/>
          <p:cNvSpPr txBox="true"/>
          <p:nvPr/>
        </p:nvSpPr>
        <p:spPr>
          <a:xfrm rot="0">
            <a:off x="2517878" y="2478861"/>
            <a:ext cx="13975798" cy="6600190"/>
          </a:xfrm>
          <a:prstGeom prst="rect">
            <a:avLst/>
          </a:prstGeom>
        </p:spPr>
        <p:txBody>
          <a:bodyPr anchor="t" rtlCol="false" tIns="0" lIns="0" bIns="0" rIns="0">
            <a:spAutoFit/>
          </a:bodyPr>
          <a:lstStyle/>
          <a:p>
            <a:pPr algn="l">
              <a:lnSpc>
                <a:spcPts val="4759"/>
              </a:lnSpc>
            </a:pPr>
            <a:r>
              <a:rPr lang="en-US" sz="3399">
                <a:solidFill>
                  <a:srgbClr val="163C3F"/>
                </a:solidFill>
                <a:latin typeface="Arimo"/>
                <a:ea typeface="Arimo"/>
                <a:cs typeface="Arimo"/>
                <a:sym typeface="Arimo"/>
              </a:rPr>
              <a:t>Researcher X conducted a study and found an interesting result. They submitted the findings to a journal for publication, but the abstract implied the study had much broader implications than the study truly did. </a:t>
            </a:r>
          </a:p>
          <a:p>
            <a:pPr algn="l">
              <a:lnSpc>
                <a:spcPts val="4759"/>
              </a:lnSpc>
            </a:pPr>
          </a:p>
          <a:p>
            <a:pPr algn="l">
              <a:lnSpc>
                <a:spcPts val="4759"/>
              </a:lnSpc>
            </a:pPr>
            <a:r>
              <a:rPr lang="en-US" sz="3399">
                <a:solidFill>
                  <a:srgbClr val="163C3F"/>
                </a:solidFill>
                <a:latin typeface="Arimo"/>
                <a:ea typeface="Arimo"/>
                <a:cs typeface="Arimo"/>
                <a:sym typeface="Arimo"/>
              </a:rPr>
              <a:t>Researcher Y after reading the abstract, writes a blog post highlighting how Researcher X’s misrepresentations can mislead readers about the scope and findings of the research. Researcher Y emphasizes the importance of crafting precise titles and abstracts to ensure that research is accurately represented and understood, warning that misleading summaries can undermine the credibility of science.</a:t>
            </a:r>
          </a:p>
          <a:p>
            <a:pPr algn="l">
              <a:lnSpc>
                <a:spcPts val="4759"/>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182765" y="933450"/>
            <a:ext cx="1192247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MINOR QRP- UNCLEAR PRE-REG</a:t>
            </a:r>
          </a:p>
        </p:txBody>
      </p:sp>
      <p:sp>
        <p:nvSpPr>
          <p:cNvPr name="TextBox 6" id="6"/>
          <p:cNvSpPr txBox="true"/>
          <p:nvPr/>
        </p:nvSpPr>
        <p:spPr>
          <a:xfrm rot="0">
            <a:off x="2517878" y="2478861"/>
            <a:ext cx="13975798" cy="7800340"/>
          </a:xfrm>
          <a:prstGeom prst="rect">
            <a:avLst/>
          </a:prstGeom>
        </p:spPr>
        <p:txBody>
          <a:bodyPr anchor="t" rtlCol="false" tIns="0" lIns="0" bIns="0" rIns="0">
            <a:spAutoFit/>
          </a:bodyPr>
          <a:lstStyle/>
          <a:p>
            <a:pPr algn="l">
              <a:lnSpc>
                <a:spcPts val="4759"/>
              </a:lnSpc>
            </a:pPr>
            <a:r>
              <a:rPr lang="en-US" sz="3399">
                <a:solidFill>
                  <a:srgbClr val="163C3F"/>
                </a:solidFill>
                <a:latin typeface="Arimo"/>
                <a:ea typeface="Arimo"/>
                <a:cs typeface="Arimo"/>
                <a:sym typeface="Arimo"/>
              </a:rPr>
              <a:t>Researcher X conducted a study and found an interesting result. When Researcher Y examined the data, they found that Researcher X’s study design plan was vague, with unclear descriptions of the analyses planned. </a:t>
            </a:r>
          </a:p>
          <a:p>
            <a:pPr algn="l">
              <a:lnSpc>
                <a:spcPts val="4759"/>
              </a:lnSpc>
            </a:pPr>
          </a:p>
          <a:p>
            <a:pPr algn="l">
              <a:lnSpc>
                <a:spcPts val="4759"/>
              </a:lnSpc>
            </a:pPr>
            <a:r>
              <a:rPr lang="en-US" sz="3399">
                <a:solidFill>
                  <a:srgbClr val="163C3F"/>
                </a:solidFill>
                <a:latin typeface="Arimo"/>
                <a:ea typeface="Arimo"/>
                <a:cs typeface="Arimo"/>
                <a:sym typeface="Arimo"/>
              </a:rPr>
              <a:t>Researcher Y writes a blog post highlighting major differences in Researcher X’s final study design from the original plan. Researcher Y emphasizes how such inadequate documentation opens the door to bias and misrepresentation, urging the research community to adopt more detailed and rigorous documentation practices to ensure accountability and reliability. </a:t>
            </a:r>
          </a:p>
          <a:p>
            <a:pPr algn="l">
              <a:lnSpc>
                <a:spcPts val="4759"/>
              </a:lnSpc>
            </a:pPr>
          </a:p>
          <a:p>
            <a:pPr algn="l">
              <a:lnSpc>
                <a:spcPts val="4759"/>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182765" y="933450"/>
            <a:ext cx="1192247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MODERATE QRP- HARKING</a:t>
            </a:r>
          </a:p>
        </p:txBody>
      </p:sp>
      <p:sp>
        <p:nvSpPr>
          <p:cNvPr name="TextBox 6" id="6"/>
          <p:cNvSpPr txBox="true"/>
          <p:nvPr/>
        </p:nvSpPr>
        <p:spPr>
          <a:xfrm rot="0">
            <a:off x="2517878" y="2478861"/>
            <a:ext cx="13975798" cy="6000115"/>
          </a:xfrm>
          <a:prstGeom prst="rect">
            <a:avLst/>
          </a:prstGeom>
        </p:spPr>
        <p:txBody>
          <a:bodyPr anchor="t" rtlCol="false" tIns="0" lIns="0" bIns="0" rIns="0">
            <a:spAutoFit/>
          </a:bodyPr>
          <a:lstStyle/>
          <a:p>
            <a:pPr algn="l">
              <a:lnSpc>
                <a:spcPts val="4759"/>
              </a:lnSpc>
            </a:pPr>
            <a:r>
              <a:rPr lang="en-US" sz="3399">
                <a:solidFill>
                  <a:srgbClr val="163C3F"/>
                </a:solidFill>
                <a:latin typeface="Arimo"/>
                <a:ea typeface="Arimo"/>
                <a:cs typeface="Arimo"/>
                <a:sym typeface="Arimo"/>
              </a:rPr>
              <a:t>Researcher X conducted a study and found an interesting result. However, when Researcher Y reviewed the paper, they realized that Researcher X had changed their hypothesis to fit with the data, presenting it as if it had been what they predicted all along.  </a:t>
            </a:r>
          </a:p>
          <a:p>
            <a:pPr algn="l">
              <a:lnSpc>
                <a:spcPts val="4759"/>
              </a:lnSpc>
            </a:pPr>
          </a:p>
          <a:p>
            <a:pPr algn="l">
              <a:lnSpc>
                <a:spcPts val="4759"/>
              </a:lnSpc>
            </a:pPr>
            <a:r>
              <a:rPr lang="en-US" sz="3399">
                <a:solidFill>
                  <a:srgbClr val="163C3F"/>
                </a:solidFill>
                <a:latin typeface="Arimo"/>
                <a:ea typeface="Arimo"/>
                <a:cs typeface="Arimo"/>
                <a:sym typeface="Arimo"/>
              </a:rPr>
              <a:t>Researcher Y writes a blog post highlighting evidence that Researcher X changed the original hypothesis. Researcher Y suggests manipulating hypotheses after data collection can mislead the scientific community and undermine the integrity of research. </a:t>
            </a:r>
          </a:p>
          <a:p>
            <a:pPr algn="l">
              <a:lnSpc>
                <a:spcPts val="4759"/>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182765" y="933450"/>
            <a:ext cx="1192247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MODERATE QRP- P-HACKING</a:t>
            </a:r>
          </a:p>
        </p:txBody>
      </p:sp>
      <p:sp>
        <p:nvSpPr>
          <p:cNvPr name="TextBox 6" id="6"/>
          <p:cNvSpPr txBox="true"/>
          <p:nvPr/>
        </p:nvSpPr>
        <p:spPr>
          <a:xfrm rot="0">
            <a:off x="2517878" y="2478861"/>
            <a:ext cx="13975798" cy="6000115"/>
          </a:xfrm>
          <a:prstGeom prst="rect">
            <a:avLst/>
          </a:prstGeom>
        </p:spPr>
        <p:txBody>
          <a:bodyPr anchor="t" rtlCol="false" tIns="0" lIns="0" bIns="0" rIns="0">
            <a:spAutoFit/>
          </a:bodyPr>
          <a:lstStyle/>
          <a:p>
            <a:pPr algn="l">
              <a:lnSpc>
                <a:spcPts val="4759"/>
              </a:lnSpc>
            </a:pPr>
            <a:r>
              <a:rPr lang="en-US" sz="3399">
                <a:solidFill>
                  <a:srgbClr val="163C3F"/>
                </a:solidFill>
                <a:latin typeface="Arimo"/>
                <a:ea typeface="Arimo"/>
                <a:cs typeface="Arimo"/>
                <a:sym typeface="Arimo"/>
              </a:rPr>
              <a:t>Researcher X conducted a study and found an interesting result. Researcher Y reviewed the data and realized that Researcher X had played around with excluding certain data points until they achieved a significant result to be able to publish. </a:t>
            </a:r>
          </a:p>
          <a:p>
            <a:pPr algn="l">
              <a:lnSpc>
                <a:spcPts val="4759"/>
              </a:lnSpc>
            </a:pPr>
          </a:p>
          <a:p>
            <a:pPr algn="l">
              <a:lnSpc>
                <a:spcPts val="4759"/>
              </a:lnSpc>
            </a:pPr>
            <a:r>
              <a:rPr lang="en-US" sz="3399">
                <a:solidFill>
                  <a:srgbClr val="163C3F"/>
                </a:solidFill>
                <a:latin typeface="Arimo"/>
                <a:ea typeface="Arimo"/>
                <a:cs typeface="Arimo"/>
                <a:sym typeface="Arimo"/>
              </a:rPr>
              <a:t>Researcher Y writes blog post presenting evidence on how Researcher X manipulated their data to achieve statistically significant results. Researcher Y emphasizes that this practice misleads the scientific community and undermines the credibility of science.</a:t>
            </a:r>
          </a:p>
          <a:p>
            <a:pPr algn="l">
              <a:lnSpc>
                <a:spcPts val="4759"/>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182765" y="933450"/>
            <a:ext cx="1192247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MAJOR QRP- SALAMI SLICING</a:t>
            </a:r>
          </a:p>
        </p:txBody>
      </p:sp>
      <p:sp>
        <p:nvSpPr>
          <p:cNvPr name="TextBox 6" id="6"/>
          <p:cNvSpPr txBox="true"/>
          <p:nvPr/>
        </p:nvSpPr>
        <p:spPr>
          <a:xfrm rot="0">
            <a:off x="2517878" y="2478861"/>
            <a:ext cx="13975798" cy="6600190"/>
          </a:xfrm>
          <a:prstGeom prst="rect">
            <a:avLst/>
          </a:prstGeom>
        </p:spPr>
        <p:txBody>
          <a:bodyPr anchor="t" rtlCol="false" tIns="0" lIns="0" bIns="0" rIns="0">
            <a:spAutoFit/>
          </a:bodyPr>
          <a:lstStyle/>
          <a:p>
            <a:pPr algn="l">
              <a:lnSpc>
                <a:spcPts val="4759"/>
              </a:lnSpc>
            </a:pPr>
            <a:r>
              <a:rPr lang="en-US" sz="3399">
                <a:solidFill>
                  <a:srgbClr val="163C3F"/>
                </a:solidFill>
                <a:latin typeface="Arimo"/>
                <a:ea typeface="Arimo"/>
                <a:cs typeface="Arimo"/>
                <a:sym typeface="Arimo"/>
              </a:rPr>
              <a:t>Researcher X conducted a study and found an interesting result. They published the same result in two different journals, but made it sound like two separate studies. By publishing the same result in two journals, Researcher X gets undeserved credit while exaggerating the evidence that they collected. </a:t>
            </a:r>
          </a:p>
          <a:p>
            <a:pPr algn="l">
              <a:lnSpc>
                <a:spcPts val="4759"/>
              </a:lnSpc>
            </a:pPr>
          </a:p>
          <a:p>
            <a:pPr algn="l">
              <a:lnSpc>
                <a:spcPts val="4759"/>
              </a:lnSpc>
            </a:pPr>
            <a:r>
              <a:rPr lang="en-US" sz="3399">
                <a:solidFill>
                  <a:srgbClr val="163C3F"/>
                </a:solidFill>
                <a:latin typeface="Arimo"/>
                <a:ea typeface="Arimo"/>
                <a:cs typeface="Arimo"/>
                <a:sym typeface="Arimo"/>
              </a:rPr>
              <a:t>Researcher Y writes a blog post highlighting evidence that the two publications were based on a single study. Researcher Y suggests that publishing the same study in multiple journals misrepresents the research and is unfair to other scientists.</a:t>
            </a:r>
          </a:p>
          <a:p>
            <a:pPr algn="l">
              <a:lnSpc>
                <a:spcPts val="4759"/>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182765" y="933450"/>
            <a:ext cx="1192247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MAJOR QRP- DATA FRAUD</a:t>
            </a:r>
          </a:p>
        </p:txBody>
      </p:sp>
      <p:sp>
        <p:nvSpPr>
          <p:cNvPr name="TextBox 6" id="6"/>
          <p:cNvSpPr txBox="true"/>
          <p:nvPr/>
        </p:nvSpPr>
        <p:spPr>
          <a:xfrm rot="0">
            <a:off x="2517878" y="2478861"/>
            <a:ext cx="13975798" cy="6600190"/>
          </a:xfrm>
          <a:prstGeom prst="rect">
            <a:avLst/>
          </a:prstGeom>
        </p:spPr>
        <p:txBody>
          <a:bodyPr anchor="t" rtlCol="false" tIns="0" lIns="0" bIns="0" rIns="0">
            <a:spAutoFit/>
          </a:bodyPr>
          <a:lstStyle/>
          <a:p>
            <a:pPr algn="l">
              <a:lnSpc>
                <a:spcPts val="4759"/>
              </a:lnSpc>
            </a:pPr>
            <a:r>
              <a:rPr lang="en-US" sz="3399">
                <a:solidFill>
                  <a:srgbClr val="163C3F"/>
                </a:solidFill>
                <a:latin typeface="Arimo"/>
                <a:ea typeface="Arimo"/>
                <a:cs typeface="Arimo"/>
                <a:sym typeface="Arimo"/>
              </a:rPr>
              <a:t>Researcher X conducted a study and found an interesting result. Upon reviewing the data, Researcher Y noticed that Researcher X fabricated or made-up large sections of the dataset. </a:t>
            </a:r>
          </a:p>
          <a:p>
            <a:pPr algn="l">
              <a:lnSpc>
                <a:spcPts val="4759"/>
              </a:lnSpc>
            </a:pPr>
          </a:p>
          <a:p>
            <a:pPr algn="l">
              <a:lnSpc>
                <a:spcPts val="4759"/>
              </a:lnSpc>
            </a:pPr>
            <a:r>
              <a:rPr lang="en-US" sz="3399">
                <a:solidFill>
                  <a:srgbClr val="163C3F"/>
                </a:solidFill>
                <a:latin typeface="Arimo"/>
                <a:ea typeface="Arimo"/>
                <a:cs typeface="Arimo"/>
                <a:sym typeface="Arimo"/>
              </a:rPr>
              <a:t>Researcher Y writes a blog post highlighting evidence of Researcher X’s fabricated data as a prime example of how such misconduct not only tarnishes the credibility of the research but can also lead to severe career repercussions for collaborators. Researcher Y suggests that data fabrication has devastating consequences on scientific integrity and credibility.</a:t>
            </a:r>
          </a:p>
          <a:p>
            <a:pPr algn="l">
              <a:lnSpc>
                <a:spcPts val="4759"/>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486400" y="3425917"/>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2911872" y="2164536"/>
            <a:ext cx="12464255"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DATA COLLECTION CRITERIA</a:t>
            </a:r>
          </a:p>
        </p:txBody>
      </p:sp>
      <p:sp>
        <p:nvSpPr>
          <p:cNvPr name="TextBox 7" id="7"/>
          <p:cNvSpPr txBox="true"/>
          <p:nvPr/>
        </p:nvSpPr>
        <p:spPr>
          <a:xfrm rot="0">
            <a:off x="1764115" y="3564324"/>
            <a:ext cx="14997894" cy="5207888"/>
          </a:xfrm>
          <a:prstGeom prst="rect">
            <a:avLst/>
          </a:prstGeom>
        </p:spPr>
        <p:txBody>
          <a:bodyPr anchor="t" rtlCol="false" tIns="0" lIns="0" bIns="0" rIns="0">
            <a:spAutoFit/>
          </a:bodyPr>
          <a:lstStyle/>
          <a:p>
            <a:pPr algn="l">
              <a:lnSpc>
                <a:spcPts val="6847"/>
              </a:lnSpc>
            </a:pPr>
            <a:r>
              <a:rPr lang="en-US" sz="4891">
                <a:solidFill>
                  <a:srgbClr val="163C3F"/>
                </a:solidFill>
                <a:latin typeface="Arimo"/>
                <a:ea typeface="Arimo"/>
                <a:cs typeface="Arimo"/>
                <a:sym typeface="Arimo"/>
              </a:rPr>
              <a:t>1) do not consent </a:t>
            </a:r>
          </a:p>
          <a:p>
            <a:pPr algn="l">
              <a:lnSpc>
                <a:spcPts val="6847"/>
              </a:lnSpc>
            </a:pPr>
            <a:r>
              <a:rPr lang="en-US" sz="4891">
                <a:solidFill>
                  <a:srgbClr val="163C3F"/>
                </a:solidFill>
                <a:latin typeface="Arimo"/>
                <a:ea typeface="Arimo"/>
                <a:cs typeface="Arimo"/>
                <a:sym typeface="Arimo"/>
              </a:rPr>
              <a:t>2) fail an attention check</a:t>
            </a:r>
          </a:p>
          <a:p>
            <a:pPr algn="l">
              <a:lnSpc>
                <a:spcPts val="6847"/>
              </a:lnSpc>
            </a:pPr>
            <a:r>
              <a:rPr lang="en-US" sz="4891">
                <a:solidFill>
                  <a:srgbClr val="163C3F"/>
                </a:solidFill>
                <a:latin typeface="Arimo"/>
                <a:ea typeface="Arimo"/>
                <a:cs typeface="Arimo"/>
                <a:sym typeface="Arimo"/>
              </a:rPr>
              <a:t>3) complete the study in less than seven minutes </a:t>
            </a:r>
          </a:p>
          <a:p>
            <a:pPr algn="l">
              <a:lnSpc>
                <a:spcPts val="6847"/>
              </a:lnSpc>
            </a:pPr>
            <a:r>
              <a:rPr lang="en-US" sz="4891">
                <a:solidFill>
                  <a:srgbClr val="163C3F"/>
                </a:solidFill>
                <a:latin typeface="Arimo"/>
                <a:ea typeface="Arimo"/>
                <a:cs typeface="Arimo"/>
                <a:sym typeface="Arimo"/>
              </a:rPr>
              <a:t>4) exhibit no variability in their responses (e.g., selecting all 5s or all 3s)</a:t>
            </a:r>
          </a:p>
          <a:p>
            <a:pPr algn="l">
              <a:lnSpc>
                <a:spcPts val="6847"/>
              </a:lnSpc>
            </a:pPr>
            <a:r>
              <a:rPr lang="en-US" sz="4891">
                <a:solidFill>
                  <a:srgbClr val="163C3F"/>
                </a:solidFill>
                <a:latin typeface="Arimo"/>
                <a:ea typeface="Arimo"/>
                <a:cs typeface="Arimo"/>
                <a:sym typeface="Arimo"/>
              </a:rPr>
              <a:t>5) fail to respond to at least 30% of the items</a:t>
            </a:r>
          </a:p>
        </p:txBody>
      </p:sp>
      <p:sp>
        <p:nvSpPr>
          <p:cNvPr name="TextBox 8" id="8"/>
          <p:cNvSpPr txBox="true"/>
          <p:nvPr/>
        </p:nvSpPr>
        <p:spPr>
          <a:xfrm rot="0">
            <a:off x="7162087" y="2676028"/>
            <a:ext cx="4894257" cy="599440"/>
          </a:xfrm>
          <a:prstGeom prst="rect">
            <a:avLst/>
          </a:prstGeom>
        </p:spPr>
        <p:txBody>
          <a:bodyPr anchor="t" rtlCol="false" tIns="0" lIns="0" bIns="0" rIns="0">
            <a:spAutoFit/>
          </a:bodyPr>
          <a:lstStyle/>
          <a:p>
            <a:pPr algn="l">
              <a:lnSpc>
                <a:spcPts val="4759"/>
              </a:lnSpc>
            </a:pPr>
            <a:r>
              <a:rPr lang="en-US" sz="3399" b="true">
                <a:solidFill>
                  <a:srgbClr val="163C3F"/>
                </a:solidFill>
                <a:latin typeface="Arimo Bold"/>
                <a:ea typeface="Arimo Bold"/>
                <a:cs typeface="Arimo Bold"/>
                <a:sym typeface="Arimo Bold"/>
              </a:rPr>
              <a:t>Exclusion Criteria</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3425917"/>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2737599" y="2221686"/>
            <a:ext cx="12638529" cy="6935393"/>
          </a:xfrm>
          <a:custGeom>
            <a:avLst/>
            <a:gdLst/>
            <a:ahLst/>
            <a:cxnLst/>
            <a:rect r="r" b="b" t="t" l="l"/>
            <a:pathLst>
              <a:path h="6935393" w="12638529">
                <a:moveTo>
                  <a:pt x="0" y="0"/>
                </a:moveTo>
                <a:lnTo>
                  <a:pt x="12638529" y="0"/>
                </a:lnTo>
                <a:lnTo>
                  <a:pt x="12638529" y="6935392"/>
                </a:lnTo>
                <a:lnTo>
                  <a:pt x="0" y="6935392"/>
                </a:lnTo>
                <a:lnTo>
                  <a:pt x="0" y="0"/>
                </a:lnTo>
                <a:close/>
              </a:path>
            </a:pathLst>
          </a:custGeom>
          <a:blipFill>
            <a:blip r:embed="rId10"/>
            <a:stretch>
              <a:fillRect l="0" t="0" r="0" b="0"/>
            </a:stretch>
          </a:blipFill>
        </p:spPr>
      </p:sp>
      <p:sp>
        <p:nvSpPr>
          <p:cNvPr name="TextBox 8" id="8"/>
          <p:cNvSpPr txBox="true"/>
          <p:nvPr/>
        </p:nvSpPr>
        <p:spPr>
          <a:xfrm rot="0">
            <a:off x="2911872" y="1747023"/>
            <a:ext cx="12464255"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DATA COLLECTION CRITERIA</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3425917"/>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4088148" y="2164536"/>
            <a:ext cx="10111704"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PROCEDURE</a:t>
            </a:r>
          </a:p>
        </p:txBody>
      </p:sp>
      <p:sp>
        <p:nvSpPr>
          <p:cNvPr name="TextBox 8" id="8"/>
          <p:cNvSpPr txBox="true"/>
          <p:nvPr/>
        </p:nvSpPr>
        <p:spPr>
          <a:xfrm rot="0">
            <a:off x="2571736" y="4085733"/>
            <a:ext cx="14536658" cy="4134204"/>
          </a:xfrm>
          <a:prstGeom prst="rect">
            <a:avLst/>
          </a:prstGeom>
        </p:spPr>
        <p:txBody>
          <a:bodyPr anchor="t" rtlCol="false" tIns="0" lIns="0" bIns="0" rIns="0">
            <a:spAutoFit/>
          </a:bodyPr>
          <a:lstStyle/>
          <a:p>
            <a:pPr algn="l" marL="725651" indent="-362825" lvl="1">
              <a:lnSpc>
                <a:spcPts val="4705"/>
              </a:lnSpc>
              <a:buAutoNum type="arabicPeriod" startAt="1"/>
            </a:pPr>
            <a:r>
              <a:rPr lang="en-US" sz="3361" spc="157">
                <a:solidFill>
                  <a:srgbClr val="163C3F"/>
                </a:solidFill>
                <a:latin typeface="Arimo"/>
                <a:ea typeface="Arimo"/>
                <a:cs typeface="Arimo"/>
                <a:sym typeface="Arimo"/>
              </a:rPr>
              <a:t>Informed Consent</a:t>
            </a:r>
          </a:p>
          <a:p>
            <a:pPr algn="l" marL="725651" indent="-362825" lvl="1">
              <a:lnSpc>
                <a:spcPts val="4705"/>
              </a:lnSpc>
              <a:buAutoNum type="arabicPeriod" startAt="1"/>
            </a:pPr>
            <a:r>
              <a:rPr lang="en-US" sz="3361" spc="157">
                <a:solidFill>
                  <a:srgbClr val="163C3F"/>
                </a:solidFill>
                <a:latin typeface="Arimo"/>
                <a:ea typeface="Arimo"/>
                <a:cs typeface="Arimo"/>
                <a:sym typeface="Arimo"/>
              </a:rPr>
              <a:t>Vignette Presentation (Randomized Order)</a:t>
            </a:r>
          </a:p>
          <a:p>
            <a:pPr algn="l" marL="725651" indent="-362825" lvl="1">
              <a:lnSpc>
                <a:spcPts val="4705"/>
              </a:lnSpc>
              <a:buAutoNum type="arabicPeriod" startAt="1"/>
            </a:pPr>
            <a:r>
              <a:rPr lang="en-US" sz="3361" spc="157">
                <a:solidFill>
                  <a:srgbClr val="163C3F"/>
                </a:solidFill>
                <a:latin typeface="Arimo"/>
                <a:ea typeface="Arimo"/>
                <a:cs typeface="Arimo"/>
                <a:sym typeface="Arimo"/>
              </a:rPr>
              <a:t>Post-Vignette Evaluations</a:t>
            </a:r>
          </a:p>
          <a:p>
            <a:pPr algn="l" marL="1451301" indent="-483767" lvl="2">
              <a:lnSpc>
                <a:spcPts val="4705"/>
              </a:lnSpc>
              <a:buAutoNum type="alphaLcPeriod" startAt="1"/>
            </a:pPr>
            <a:r>
              <a:rPr lang="en-US" sz="3361" spc="157">
                <a:solidFill>
                  <a:srgbClr val="163C3F"/>
                </a:solidFill>
                <a:latin typeface="Arimo"/>
                <a:ea typeface="Arimo"/>
                <a:cs typeface="Arimo"/>
                <a:sym typeface="Arimo"/>
              </a:rPr>
              <a:t>trust, likeability, perceived trueness and positive attribution</a:t>
            </a:r>
          </a:p>
          <a:p>
            <a:pPr algn="l" marL="725651" indent="-362825" lvl="1">
              <a:lnSpc>
                <a:spcPts val="4705"/>
              </a:lnSpc>
              <a:buAutoNum type="arabicPeriod" startAt="1"/>
            </a:pPr>
            <a:r>
              <a:rPr lang="en-US" sz="3361" spc="157">
                <a:solidFill>
                  <a:srgbClr val="163C3F"/>
                </a:solidFill>
                <a:latin typeface="Arimo"/>
                <a:ea typeface="Arimo"/>
                <a:cs typeface="Arimo"/>
                <a:sym typeface="Arimo"/>
              </a:rPr>
              <a:t>Repeat step 2-3 for the other 5 vignettes</a:t>
            </a:r>
          </a:p>
          <a:p>
            <a:pPr algn="l" marL="1451301" indent="-483767" lvl="2">
              <a:lnSpc>
                <a:spcPts val="4705"/>
              </a:lnSpc>
              <a:buAutoNum type="alphaLcPeriod" startAt="1"/>
            </a:pPr>
            <a:r>
              <a:rPr lang="en-US" sz="3361" spc="157">
                <a:solidFill>
                  <a:srgbClr val="163C3F"/>
                </a:solidFill>
                <a:latin typeface="Arimo"/>
                <a:ea typeface="Arimo"/>
                <a:cs typeface="Arimo"/>
                <a:sym typeface="Arimo"/>
              </a:rPr>
              <a:t>with attention check randomly presented in between</a:t>
            </a:r>
          </a:p>
          <a:p>
            <a:pPr algn="l" marL="725651" indent="-362825" lvl="1">
              <a:lnSpc>
                <a:spcPts val="4705"/>
              </a:lnSpc>
              <a:buAutoNum type="arabicPeriod" startAt="1"/>
            </a:pPr>
            <a:r>
              <a:rPr lang="en-US" sz="3361" spc="157">
                <a:solidFill>
                  <a:srgbClr val="163C3F"/>
                </a:solidFill>
                <a:latin typeface="Arimo"/>
                <a:ea typeface="Arimo"/>
                <a:cs typeface="Arimo"/>
                <a:sym typeface="Arimo"/>
              </a:rPr>
              <a:t>Demographics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3425917"/>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415358" y="2350488"/>
            <a:ext cx="7457284"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RESEARCH QUESTION 1</a:t>
            </a:r>
          </a:p>
        </p:txBody>
      </p:sp>
      <p:sp>
        <p:nvSpPr>
          <p:cNvPr name="TextBox 8" id="8"/>
          <p:cNvSpPr txBox="true"/>
          <p:nvPr/>
        </p:nvSpPr>
        <p:spPr>
          <a:xfrm rot="0">
            <a:off x="4471321" y="319979"/>
            <a:ext cx="5452746" cy="744633"/>
          </a:xfrm>
          <a:prstGeom prst="rect">
            <a:avLst/>
          </a:prstGeom>
        </p:spPr>
        <p:txBody>
          <a:bodyPr anchor="t" rtlCol="false" tIns="0" lIns="0" bIns="0" rIns="0">
            <a:spAutoFit/>
          </a:bodyPr>
          <a:lstStyle/>
          <a:p>
            <a:pPr algn="l">
              <a:lnSpc>
                <a:spcPts val="1822"/>
              </a:lnSpc>
            </a:pPr>
            <a:r>
              <a:rPr lang="en-US" sz="1822" b="true">
                <a:solidFill>
                  <a:srgbClr val="163C3F"/>
                </a:solidFill>
                <a:latin typeface="Arimo Bold"/>
                <a:ea typeface="Arimo Bold"/>
                <a:cs typeface="Arimo Bold"/>
                <a:sym typeface="Arimo Bold"/>
              </a:rPr>
              <a:t>Investigators = those who commit QRPs</a:t>
            </a:r>
          </a:p>
          <a:p>
            <a:pPr algn="l">
              <a:lnSpc>
                <a:spcPts val="1822"/>
              </a:lnSpc>
            </a:pPr>
            <a:r>
              <a:rPr lang="en-US" sz="1822" b="true">
                <a:solidFill>
                  <a:srgbClr val="163C3F"/>
                </a:solidFill>
                <a:latin typeface="Arimo Bold"/>
                <a:ea typeface="Arimo Bold"/>
                <a:cs typeface="Arimo Bold"/>
                <a:sym typeface="Arimo Bold"/>
              </a:rPr>
              <a:t>Inspectors = those who report them</a:t>
            </a:r>
          </a:p>
          <a:p>
            <a:pPr algn="just">
              <a:lnSpc>
                <a:spcPts val="2323"/>
              </a:lnSpc>
            </a:pPr>
          </a:p>
        </p:txBody>
      </p:sp>
      <p:sp>
        <p:nvSpPr>
          <p:cNvPr name="TextBox 9" id="9"/>
          <p:cNvSpPr txBox="true"/>
          <p:nvPr/>
        </p:nvSpPr>
        <p:spPr>
          <a:xfrm rot="0">
            <a:off x="1408171" y="4304808"/>
            <a:ext cx="15851129" cy="3472754"/>
          </a:xfrm>
          <a:prstGeom prst="rect">
            <a:avLst/>
          </a:prstGeom>
        </p:spPr>
        <p:txBody>
          <a:bodyPr anchor="t" rtlCol="false" tIns="0" lIns="0" bIns="0" rIns="0">
            <a:spAutoFit/>
          </a:bodyPr>
          <a:lstStyle/>
          <a:p>
            <a:pPr algn="just">
              <a:lnSpc>
                <a:spcPts val="4553"/>
              </a:lnSpc>
            </a:pPr>
            <a:r>
              <a:rPr lang="en-US" sz="3252">
                <a:solidFill>
                  <a:srgbClr val="163C3F"/>
                </a:solidFill>
                <a:latin typeface="Arimo"/>
                <a:ea typeface="Arimo"/>
                <a:cs typeface="Arimo"/>
                <a:sym typeface="Arimo"/>
              </a:rPr>
              <a:t>Research Question 1: How is trustworthiness influenced by role and QRP severity?</a:t>
            </a:r>
          </a:p>
          <a:p>
            <a:pPr algn="l" marL="702189" indent="-351094" lvl="1">
              <a:lnSpc>
                <a:spcPts val="4553"/>
              </a:lnSpc>
              <a:buFont typeface="Arial"/>
              <a:buChar char="•"/>
            </a:pPr>
            <a:r>
              <a:rPr lang="en-US" sz="3252">
                <a:solidFill>
                  <a:srgbClr val="163C3F"/>
                </a:solidFill>
                <a:latin typeface="Arimo"/>
                <a:ea typeface="Arimo"/>
                <a:cs typeface="Arimo"/>
                <a:sym typeface="Arimo"/>
              </a:rPr>
              <a:t>Hypothesis 1a: Inspectors will be rated as more trustworthy than investigators.</a:t>
            </a:r>
          </a:p>
          <a:p>
            <a:pPr algn="l" marL="702189" indent="-351094" lvl="1">
              <a:lnSpc>
                <a:spcPts val="4553"/>
              </a:lnSpc>
              <a:buFont typeface="Arial"/>
              <a:buChar char="•"/>
            </a:pPr>
            <a:r>
              <a:rPr lang="en-US" sz="3252">
                <a:solidFill>
                  <a:srgbClr val="163C3F"/>
                </a:solidFill>
                <a:latin typeface="Arimo"/>
                <a:ea typeface="Arimo"/>
                <a:cs typeface="Arimo"/>
                <a:sym typeface="Arimo"/>
              </a:rPr>
              <a:t>Hypothesis 1b: The relative trustworthiness of inspectors versus investigators will increase as QRP severity increases.</a:t>
            </a:r>
          </a:p>
          <a:p>
            <a:pPr algn="just">
              <a:lnSpc>
                <a:spcPts val="4553"/>
              </a:lnSpc>
            </a:pPr>
          </a:p>
          <a:p>
            <a:pPr algn="just">
              <a:lnSpc>
                <a:spcPts val="4553"/>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4791720" y="770950"/>
            <a:ext cx="870456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PLANNED ANALYSIS</a:t>
            </a:r>
          </a:p>
        </p:txBody>
      </p:sp>
      <p:sp>
        <p:nvSpPr>
          <p:cNvPr name="TextBox 8" id="8"/>
          <p:cNvSpPr txBox="true"/>
          <p:nvPr/>
        </p:nvSpPr>
        <p:spPr>
          <a:xfrm rot="0">
            <a:off x="1281049" y="3084076"/>
            <a:ext cx="16180261" cy="5292577"/>
          </a:xfrm>
          <a:prstGeom prst="rect">
            <a:avLst/>
          </a:prstGeom>
        </p:spPr>
        <p:txBody>
          <a:bodyPr anchor="t" rtlCol="false" tIns="0" lIns="0" bIns="0" rIns="0">
            <a:spAutoFit/>
          </a:bodyPr>
          <a:lstStyle/>
          <a:p>
            <a:pPr algn="just">
              <a:lnSpc>
                <a:spcPts val="3511"/>
              </a:lnSpc>
            </a:pPr>
            <a:r>
              <a:rPr lang="en-US" sz="3511" b="true">
                <a:solidFill>
                  <a:srgbClr val="163C3F"/>
                </a:solidFill>
                <a:latin typeface="Arimo Bold"/>
                <a:ea typeface="Arimo Bold"/>
                <a:cs typeface="Arimo Bold"/>
                <a:sym typeface="Arimo Bold"/>
              </a:rPr>
              <a:t>Model 0: Y</a:t>
            </a:r>
            <a:r>
              <a:rPr lang="en-US" sz="3511" b="true">
                <a:solidFill>
                  <a:srgbClr val="163C3F"/>
                </a:solidFill>
                <a:latin typeface="Arimo Bold"/>
                <a:ea typeface="Arimo Bold"/>
                <a:cs typeface="Arimo Bold"/>
                <a:sym typeface="Arimo Bold"/>
              </a:rPr>
              <a:t>ijk</a:t>
            </a:r>
            <a:r>
              <a:rPr lang="en-US" sz="3511" b="true">
                <a:solidFill>
                  <a:srgbClr val="163C3F"/>
                </a:solidFill>
                <a:latin typeface="Arimo Bold"/>
                <a:ea typeface="Arimo Bold"/>
                <a:cs typeface="Arimo Bold"/>
                <a:sym typeface="Arimo Bold"/>
              </a:rPr>
              <a:t> = γ</a:t>
            </a:r>
            <a:r>
              <a:rPr lang="en-US" sz="3511" b="true">
                <a:solidFill>
                  <a:srgbClr val="163C3F"/>
                </a:solidFill>
                <a:latin typeface="Arimo Bold"/>
                <a:ea typeface="Arimo Bold"/>
                <a:cs typeface="Arimo Bold"/>
                <a:sym typeface="Arimo Bold"/>
              </a:rPr>
              <a:t>000</a:t>
            </a:r>
            <a:r>
              <a:rPr lang="en-US" sz="3511" b="true">
                <a:solidFill>
                  <a:srgbClr val="163C3F"/>
                </a:solidFill>
                <a:latin typeface="Arimo Bold"/>
                <a:ea typeface="Arimo Bold"/>
                <a:cs typeface="Arimo Bold"/>
                <a:sym typeface="Arimo Bold"/>
              </a:rPr>
              <a:t> + ν</a:t>
            </a:r>
            <a:r>
              <a:rPr lang="en-US" sz="3511" b="true">
                <a:solidFill>
                  <a:srgbClr val="163C3F"/>
                </a:solidFill>
                <a:latin typeface="Arimo Bold"/>
                <a:ea typeface="Arimo Bold"/>
                <a:cs typeface="Arimo Bold"/>
                <a:sym typeface="Arimo Bold"/>
              </a:rPr>
              <a:t>0k</a:t>
            </a:r>
            <a:r>
              <a:rPr lang="en-US" sz="3511" b="true">
                <a:solidFill>
                  <a:srgbClr val="163C3F"/>
                </a:solidFill>
                <a:latin typeface="Arimo Bold"/>
                <a:ea typeface="Arimo Bold"/>
                <a:cs typeface="Arimo Bold"/>
                <a:sym typeface="Arimo Bold"/>
              </a:rPr>
              <a:t> + μ</a:t>
            </a:r>
            <a:r>
              <a:rPr lang="en-US" sz="3511" b="true">
                <a:solidFill>
                  <a:srgbClr val="163C3F"/>
                </a:solidFill>
                <a:latin typeface="Arimo Bold"/>
                <a:ea typeface="Arimo Bold"/>
                <a:cs typeface="Arimo Bold"/>
                <a:sym typeface="Arimo Bold"/>
              </a:rPr>
              <a:t>0jk</a:t>
            </a:r>
            <a:r>
              <a:rPr lang="en-US" sz="3511" b="true">
                <a:solidFill>
                  <a:srgbClr val="163C3F"/>
                </a:solidFill>
                <a:latin typeface="Arimo Bold"/>
                <a:ea typeface="Arimo Bold"/>
                <a:cs typeface="Arimo Bold"/>
                <a:sym typeface="Arimo Bold"/>
              </a:rPr>
              <a:t> + ε</a:t>
            </a:r>
            <a:r>
              <a:rPr lang="en-US" sz="3511" b="true">
                <a:solidFill>
                  <a:srgbClr val="163C3F"/>
                </a:solidFill>
                <a:latin typeface="Arimo Bold"/>
                <a:ea typeface="Arimo Bold"/>
                <a:cs typeface="Arimo Bold"/>
                <a:sym typeface="Arimo Bold"/>
              </a:rPr>
              <a:t>ijk</a:t>
            </a:r>
            <a:r>
              <a:rPr lang="en-US" sz="3511" b="true">
                <a:solidFill>
                  <a:srgbClr val="163C3F"/>
                </a:solidFill>
                <a:latin typeface="Arimo Bold"/>
                <a:ea typeface="Arimo Bold"/>
                <a:cs typeface="Arimo Bold"/>
                <a:sym typeface="Arimo Bold"/>
              </a:rPr>
              <a:t>). </a:t>
            </a:r>
          </a:p>
          <a:p>
            <a:pPr algn="just">
              <a:lnSpc>
                <a:spcPts val="3511"/>
              </a:lnSpc>
            </a:pPr>
          </a:p>
          <a:p>
            <a:pPr algn="just">
              <a:lnSpc>
                <a:spcPts val="3511"/>
              </a:lnSpc>
              <a:spcBef>
                <a:spcPct val="0"/>
              </a:spcBef>
            </a:pPr>
            <a:r>
              <a:rPr lang="en-US" b="true" sz="3511">
                <a:solidFill>
                  <a:srgbClr val="163C3F"/>
                </a:solidFill>
                <a:latin typeface="Arimo Bold"/>
                <a:ea typeface="Arimo Bold"/>
                <a:cs typeface="Arimo Bold"/>
                <a:sym typeface="Arimo Bold"/>
              </a:rPr>
              <a:t>M</a:t>
            </a:r>
            <a:r>
              <a:rPr lang="en-US" b="true" sz="3511">
                <a:solidFill>
                  <a:srgbClr val="163C3F"/>
                </a:solidFill>
                <a:latin typeface="Arimo Bold"/>
                <a:ea typeface="Arimo Bold"/>
                <a:cs typeface="Arimo Bold"/>
                <a:sym typeface="Arimo Bold"/>
              </a:rPr>
              <a:t>odel 1: Trust/Likeability</a:t>
            </a:r>
            <a:r>
              <a:rPr lang="en-US" b="true" sz="3511">
                <a:solidFill>
                  <a:srgbClr val="163C3F"/>
                </a:solidFill>
                <a:latin typeface="Arimo Bold"/>
                <a:ea typeface="Arimo Bold"/>
                <a:cs typeface="Arimo Bold"/>
                <a:sym typeface="Arimo Bold"/>
              </a:rPr>
              <a:t>ijk </a:t>
            </a:r>
            <a:r>
              <a:rPr lang="en-US" b="true" sz="3511">
                <a:solidFill>
                  <a:srgbClr val="163C3F"/>
                </a:solidFill>
                <a:latin typeface="Arimo Bold"/>
                <a:ea typeface="Arimo Bold"/>
                <a:cs typeface="Arimo Bold"/>
                <a:sym typeface="Arimo Bold"/>
              </a:rPr>
              <a:t>= γ</a:t>
            </a:r>
            <a:r>
              <a:rPr lang="en-US" b="true" sz="3511">
                <a:solidFill>
                  <a:srgbClr val="163C3F"/>
                </a:solidFill>
                <a:latin typeface="Arimo Bold"/>
                <a:ea typeface="Arimo Bold"/>
                <a:cs typeface="Arimo Bold"/>
                <a:sym typeface="Arimo Bold"/>
              </a:rPr>
              <a:t>000</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100</a:t>
            </a:r>
            <a:r>
              <a:rPr lang="en-US" b="true" sz="3511">
                <a:solidFill>
                  <a:srgbClr val="163C3F"/>
                </a:solidFill>
                <a:latin typeface="Arimo Bold"/>
                <a:ea typeface="Arimo Bold"/>
                <a:cs typeface="Arimo Bold"/>
                <a:sym typeface="Arimo Bold"/>
              </a:rPr>
              <a:t> (Researcher</a:t>
            </a:r>
            <a:r>
              <a:rPr lang="en-US" b="true" sz="3511">
                <a:solidFill>
                  <a:srgbClr val="163C3F"/>
                </a:solidFill>
                <a:latin typeface="Arimo Bold"/>
                <a:ea typeface="Arimo Bold"/>
                <a:cs typeface="Arimo Bold"/>
                <a:sym typeface="Arimo Bold"/>
              </a:rPr>
              <a:t>j</a:t>
            </a:r>
            <a:r>
              <a:rPr lang="en-US" b="true" sz="3511">
                <a:solidFill>
                  <a:srgbClr val="163C3F"/>
                </a:solidFill>
                <a:latin typeface="Arimo Bold"/>
                <a:ea typeface="Arimo Bold"/>
                <a:cs typeface="Arimo Bold"/>
                <a:sym typeface="Arimo Bold"/>
              </a:rPr>
              <a:t>) + ν</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μ</a:t>
            </a:r>
            <a:r>
              <a:rPr lang="en-US" b="true" sz="3511">
                <a:solidFill>
                  <a:srgbClr val="163C3F"/>
                </a:solidFill>
                <a:latin typeface="Arimo Bold"/>
                <a:ea typeface="Arimo Bold"/>
                <a:cs typeface="Arimo Bold"/>
                <a:sym typeface="Arimo Bold"/>
              </a:rPr>
              <a:t>0jk</a:t>
            </a:r>
            <a:r>
              <a:rPr lang="en-US" b="true" sz="3511">
                <a:solidFill>
                  <a:srgbClr val="163C3F"/>
                </a:solidFill>
                <a:latin typeface="Arimo Bold"/>
                <a:ea typeface="Arimo Bold"/>
                <a:cs typeface="Arimo Bold"/>
                <a:sym typeface="Arimo Bold"/>
              </a:rPr>
              <a:t> + ε</a:t>
            </a:r>
            <a:r>
              <a:rPr lang="en-US" b="true" sz="3511">
                <a:solidFill>
                  <a:srgbClr val="163C3F"/>
                </a:solidFill>
                <a:latin typeface="Arimo Bold"/>
                <a:ea typeface="Arimo Bold"/>
                <a:cs typeface="Arimo Bold"/>
                <a:sym typeface="Arimo Bold"/>
              </a:rPr>
              <a:t>ijk</a:t>
            </a:r>
            <a:r>
              <a:rPr lang="en-US" b="true" sz="3511">
                <a:solidFill>
                  <a:srgbClr val="163C3F"/>
                </a:solidFill>
                <a:latin typeface="Arimo Bold"/>
                <a:ea typeface="Arimo Bold"/>
                <a:cs typeface="Arimo Bold"/>
                <a:sym typeface="Arimo Bold"/>
              </a:rPr>
              <a:t> </a:t>
            </a:r>
          </a:p>
          <a:p>
            <a:pPr algn="just">
              <a:lnSpc>
                <a:spcPts val="3511"/>
              </a:lnSpc>
              <a:spcBef>
                <a:spcPct val="0"/>
              </a:spcBef>
            </a:pPr>
          </a:p>
          <a:p>
            <a:pPr algn="just">
              <a:lnSpc>
                <a:spcPts val="3511"/>
              </a:lnSpc>
              <a:spcBef>
                <a:spcPct val="0"/>
              </a:spcBef>
            </a:pPr>
            <a:r>
              <a:rPr lang="en-US" b="true" sz="3511">
                <a:solidFill>
                  <a:srgbClr val="163C3F"/>
                </a:solidFill>
                <a:latin typeface="Arimo Bold"/>
                <a:ea typeface="Arimo Bold"/>
                <a:cs typeface="Arimo Bold"/>
                <a:sym typeface="Arimo Bold"/>
              </a:rPr>
              <a:t>Model 2: Trust/Likeability</a:t>
            </a:r>
            <a:r>
              <a:rPr lang="en-US" b="true" sz="3511">
                <a:solidFill>
                  <a:srgbClr val="163C3F"/>
                </a:solidFill>
                <a:latin typeface="Arimo Bold"/>
                <a:ea typeface="Arimo Bold"/>
                <a:cs typeface="Arimo Bold"/>
                <a:sym typeface="Arimo Bold"/>
              </a:rPr>
              <a:t>ijk</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000</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010</a:t>
            </a:r>
            <a:r>
              <a:rPr lang="en-US" b="true" sz="3511">
                <a:solidFill>
                  <a:srgbClr val="163C3F"/>
                </a:solidFill>
                <a:latin typeface="Arimo Bold"/>
                <a:ea typeface="Arimo Bold"/>
                <a:cs typeface="Arimo Bold"/>
                <a:sym typeface="Arimo Bold"/>
              </a:rPr>
              <a:t> (Severity</a:t>
            </a:r>
            <a:r>
              <a:rPr lang="en-US" b="true" sz="3511">
                <a:solidFill>
                  <a:srgbClr val="163C3F"/>
                </a:solidFill>
                <a:latin typeface="Arimo Bold"/>
                <a:ea typeface="Arimo Bold"/>
                <a:cs typeface="Arimo Bold"/>
                <a:sym typeface="Arimo Bold"/>
              </a:rPr>
              <a:t>k</a:t>
            </a:r>
            <a:r>
              <a:rPr lang="en-US" b="true" sz="3511">
                <a:solidFill>
                  <a:srgbClr val="163C3F"/>
                </a:solidFill>
                <a:latin typeface="Arimo Bold"/>
                <a:ea typeface="Arimo Bold"/>
                <a:cs typeface="Arimo Bold"/>
                <a:sym typeface="Arimo Bold"/>
              </a:rPr>
              <a:t>) + ν</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μ</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ε</a:t>
            </a:r>
            <a:r>
              <a:rPr lang="en-US" b="true" sz="3511">
                <a:solidFill>
                  <a:srgbClr val="163C3F"/>
                </a:solidFill>
                <a:latin typeface="Arimo Bold"/>
                <a:ea typeface="Arimo Bold"/>
                <a:cs typeface="Arimo Bold"/>
                <a:sym typeface="Arimo Bold"/>
              </a:rPr>
              <a:t>ijk</a:t>
            </a:r>
          </a:p>
          <a:p>
            <a:pPr algn="just">
              <a:lnSpc>
                <a:spcPts val="3511"/>
              </a:lnSpc>
              <a:spcBef>
                <a:spcPct val="0"/>
              </a:spcBef>
            </a:pPr>
          </a:p>
          <a:p>
            <a:pPr algn="just">
              <a:lnSpc>
                <a:spcPts val="3511"/>
              </a:lnSpc>
              <a:spcBef>
                <a:spcPct val="0"/>
              </a:spcBef>
            </a:pPr>
            <a:r>
              <a:rPr lang="en-US" b="true" sz="3511">
                <a:solidFill>
                  <a:srgbClr val="163C3F"/>
                </a:solidFill>
                <a:latin typeface="Arimo Bold"/>
                <a:ea typeface="Arimo Bold"/>
                <a:cs typeface="Arimo Bold"/>
                <a:sym typeface="Arimo Bold"/>
              </a:rPr>
              <a:t>Model 3: Trust/Likeability</a:t>
            </a:r>
            <a:r>
              <a:rPr lang="en-US" b="true" sz="3511">
                <a:solidFill>
                  <a:srgbClr val="163C3F"/>
                </a:solidFill>
                <a:latin typeface="Arimo Bold"/>
                <a:ea typeface="Arimo Bold"/>
                <a:cs typeface="Arimo Bold"/>
                <a:sym typeface="Arimo Bold"/>
              </a:rPr>
              <a:t>ijk</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000</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100</a:t>
            </a:r>
            <a:r>
              <a:rPr lang="en-US" b="true" sz="3511">
                <a:solidFill>
                  <a:srgbClr val="163C3F"/>
                </a:solidFill>
                <a:latin typeface="Arimo Bold"/>
                <a:ea typeface="Arimo Bold"/>
                <a:cs typeface="Arimo Bold"/>
                <a:sym typeface="Arimo Bold"/>
              </a:rPr>
              <a:t> (Researcher</a:t>
            </a:r>
            <a:r>
              <a:rPr lang="en-US" b="true" sz="3511">
                <a:solidFill>
                  <a:srgbClr val="163C3F"/>
                </a:solidFill>
                <a:latin typeface="Arimo Bold"/>
                <a:ea typeface="Arimo Bold"/>
                <a:cs typeface="Arimo Bold"/>
                <a:sym typeface="Arimo Bold"/>
              </a:rPr>
              <a:t>j</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010</a:t>
            </a:r>
            <a:r>
              <a:rPr lang="en-US" b="true" sz="3511">
                <a:solidFill>
                  <a:srgbClr val="163C3F"/>
                </a:solidFill>
                <a:latin typeface="Arimo Bold"/>
                <a:ea typeface="Arimo Bold"/>
                <a:cs typeface="Arimo Bold"/>
                <a:sym typeface="Arimo Bold"/>
              </a:rPr>
              <a:t> (Severity</a:t>
            </a:r>
            <a:r>
              <a:rPr lang="en-US" b="true" sz="3511">
                <a:solidFill>
                  <a:srgbClr val="163C3F"/>
                </a:solidFill>
                <a:latin typeface="Arimo Bold"/>
                <a:ea typeface="Arimo Bold"/>
                <a:cs typeface="Arimo Bold"/>
                <a:sym typeface="Arimo Bold"/>
              </a:rPr>
              <a:t>k</a:t>
            </a:r>
            <a:r>
              <a:rPr lang="en-US" b="true" sz="3511">
                <a:solidFill>
                  <a:srgbClr val="163C3F"/>
                </a:solidFill>
                <a:latin typeface="Arimo Bold"/>
                <a:ea typeface="Arimo Bold"/>
                <a:cs typeface="Arimo Bold"/>
                <a:sym typeface="Arimo Bold"/>
              </a:rPr>
              <a:t>) + ν</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μ</a:t>
            </a:r>
            <a:r>
              <a:rPr lang="en-US" b="true" sz="3511">
                <a:solidFill>
                  <a:srgbClr val="163C3F"/>
                </a:solidFill>
                <a:latin typeface="Arimo Bold"/>
                <a:ea typeface="Arimo Bold"/>
                <a:cs typeface="Arimo Bold"/>
                <a:sym typeface="Arimo Bold"/>
              </a:rPr>
              <a:t>0jk</a:t>
            </a:r>
            <a:r>
              <a:rPr lang="en-US" b="true" sz="3511">
                <a:solidFill>
                  <a:srgbClr val="163C3F"/>
                </a:solidFill>
                <a:latin typeface="Arimo Bold"/>
                <a:ea typeface="Arimo Bold"/>
                <a:cs typeface="Arimo Bold"/>
                <a:sym typeface="Arimo Bold"/>
              </a:rPr>
              <a:t> + ε</a:t>
            </a:r>
            <a:r>
              <a:rPr lang="en-US" b="true" sz="3511">
                <a:solidFill>
                  <a:srgbClr val="163C3F"/>
                </a:solidFill>
                <a:latin typeface="Arimo Bold"/>
                <a:ea typeface="Arimo Bold"/>
                <a:cs typeface="Arimo Bold"/>
                <a:sym typeface="Arimo Bold"/>
              </a:rPr>
              <a:t>ijk</a:t>
            </a:r>
          </a:p>
          <a:p>
            <a:pPr algn="just">
              <a:lnSpc>
                <a:spcPts val="3511"/>
              </a:lnSpc>
              <a:spcBef>
                <a:spcPct val="0"/>
              </a:spcBef>
            </a:pPr>
          </a:p>
          <a:p>
            <a:pPr algn="just">
              <a:lnSpc>
                <a:spcPts val="3511"/>
              </a:lnSpc>
              <a:spcBef>
                <a:spcPct val="0"/>
              </a:spcBef>
            </a:pPr>
            <a:r>
              <a:rPr lang="en-US" b="true" sz="3511">
                <a:solidFill>
                  <a:srgbClr val="163C3F"/>
                </a:solidFill>
                <a:latin typeface="Arimo Bold"/>
                <a:ea typeface="Arimo Bold"/>
                <a:cs typeface="Arimo Bold"/>
                <a:sym typeface="Arimo Bold"/>
              </a:rPr>
              <a:t>Model 4: Trust/Likeability</a:t>
            </a:r>
            <a:r>
              <a:rPr lang="en-US" b="true" sz="3511">
                <a:solidFill>
                  <a:srgbClr val="163C3F"/>
                </a:solidFill>
                <a:latin typeface="Arimo Bold"/>
                <a:ea typeface="Arimo Bold"/>
                <a:cs typeface="Arimo Bold"/>
                <a:sym typeface="Arimo Bold"/>
              </a:rPr>
              <a:t>ijk</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000</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100</a:t>
            </a:r>
            <a:r>
              <a:rPr lang="en-US" b="true" sz="3511">
                <a:solidFill>
                  <a:srgbClr val="163C3F"/>
                </a:solidFill>
                <a:latin typeface="Arimo Bold"/>
                <a:ea typeface="Arimo Bold"/>
                <a:cs typeface="Arimo Bold"/>
                <a:sym typeface="Arimo Bold"/>
              </a:rPr>
              <a:t> (Researcher</a:t>
            </a:r>
            <a:r>
              <a:rPr lang="en-US" b="true" sz="3511">
                <a:solidFill>
                  <a:srgbClr val="163C3F"/>
                </a:solidFill>
                <a:latin typeface="Arimo Bold"/>
                <a:ea typeface="Arimo Bold"/>
                <a:cs typeface="Arimo Bold"/>
                <a:sym typeface="Arimo Bold"/>
              </a:rPr>
              <a:t>j</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010</a:t>
            </a:r>
            <a:r>
              <a:rPr lang="en-US" b="true" sz="3511">
                <a:solidFill>
                  <a:srgbClr val="163C3F"/>
                </a:solidFill>
                <a:latin typeface="Arimo Bold"/>
                <a:ea typeface="Arimo Bold"/>
                <a:cs typeface="Arimo Bold"/>
                <a:sym typeface="Arimo Bold"/>
              </a:rPr>
              <a:t> (Severity</a:t>
            </a:r>
            <a:r>
              <a:rPr lang="en-US" b="true" sz="3511">
                <a:solidFill>
                  <a:srgbClr val="163C3F"/>
                </a:solidFill>
                <a:latin typeface="Arimo Bold"/>
                <a:ea typeface="Arimo Bold"/>
                <a:cs typeface="Arimo Bold"/>
                <a:sym typeface="Arimo Bold"/>
              </a:rPr>
              <a:t>k</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110</a:t>
            </a:r>
            <a:r>
              <a:rPr lang="en-US" b="true" sz="3511">
                <a:solidFill>
                  <a:srgbClr val="163C3F"/>
                </a:solidFill>
                <a:latin typeface="Arimo Bold"/>
                <a:ea typeface="Arimo Bold"/>
                <a:cs typeface="Arimo Bold"/>
                <a:sym typeface="Arimo Bold"/>
              </a:rPr>
              <a:t>(Researcher</a:t>
            </a:r>
            <a:r>
              <a:rPr lang="en-US" b="true" sz="3511">
                <a:solidFill>
                  <a:srgbClr val="163C3F"/>
                </a:solidFill>
                <a:latin typeface="Arimo Bold"/>
                <a:ea typeface="Arimo Bold"/>
                <a:cs typeface="Arimo Bold"/>
                <a:sym typeface="Arimo Bold"/>
              </a:rPr>
              <a:t>j</a:t>
            </a:r>
            <a:r>
              <a:rPr lang="en-US" b="true" sz="3511">
                <a:solidFill>
                  <a:srgbClr val="163C3F"/>
                </a:solidFill>
                <a:latin typeface="Arimo Bold"/>
                <a:ea typeface="Arimo Bold"/>
                <a:cs typeface="Arimo Bold"/>
                <a:sym typeface="Arimo Bold"/>
              </a:rPr>
              <a:t> × Severity</a:t>
            </a:r>
            <a:r>
              <a:rPr lang="en-US" b="true" sz="3511">
                <a:solidFill>
                  <a:srgbClr val="163C3F"/>
                </a:solidFill>
                <a:latin typeface="Arimo Bold"/>
                <a:ea typeface="Arimo Bold"/>
                <a:cs typeface="Arimo Bold"/>
                <a:sym typeface="Arimo Bold"/>
              </a:rPr>
              <a:t>k</a:t>
            </a:r>
            <a:r>
              <a:rPr lang="en-US" b="true" sz="3511">
                <a:solidFill>
                  <a:srgbClr val="163C3F"/>
                </a:solidFill>
                <a:latin typeface="Arimo Bold"/>
                <a:ea typeface="Arimo Bold"/>
                <a:cs typeface="Arimo Bold"/>
                <a:sym typeface="Arimo Bold"/>
              </a:rPr>
              <a:t>) + ν</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μ</a:t>
            </a:r>
            <a:r>
              <a:rPr lang="en-US" b="true" sz="3511">
                <a:solidFill>
                  <a:srgbClr val="163C3F"/>
                </a:solidFill>
                <a:latin typeface="Arimo Bold"/>
                <a:ea typeface="Arimo Bold"/>
                <a:cs typeface="Arimo Bold"/>
                <a:sym typeface="Arimo Bold"/>
              </a:rPr>
              <a:t>0jk</a:t>
            </a:r>
            <a:r>
              <a:rPr lang="en-US" b="true" sz="3511">
                <a:solidFill>
                  <a:srgbClr val="163C3F"/>
                </a:solidFill>
                <a:latin typeface="Arimo Bold"/>
                <a:ea typeface="Arimo Bold"/>
                <a:cs typeface="Arimo Bold"/>
                <a:sym typeface="Arimo Bold"/>
              </a:rPr>
              <a:t> + ε</a:t>
            </a:r>
            <a:r>
              <a:rPr lang="en-US" b="true" sz="3511">
                <a:solidFill>
                  <a:srgbClr val="163C3F"/>
                </a:solidFill>
                <a:latin typeface="Arimo Bold"/>
                <a:ea typeface="Arimo Bold"/>
                <a:cs typeface="Arimo Bold"/>
                <a:sym typeface="Arimo Bold"/>
              </a:rPr>
              <a:t>ijk</a:t>
            </a:r>
          </a:p>
          <a:p>
            <a:pPr algn="just">
              <a:lnSpc>
                <a:spcPts val="3511"/>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2212817" y="2564586"/>
            <a:ext cx="14078752" cy="7092171"/>
          </a:xfrm>
          <a:custGeom>
            <a:avLst/>
            <a:gdLst/>
            <a:ahLst/>
            <a:cxnLst/>
            <a:rect r="r" b="b" t="t" l="l"/>
            <a:pathLst>
              <a:path h="7092171" w="14078752">
                <a:moveTo>
                  <a:pt x="0" y="0"/>
                </a:moveTo>
                <a:lnTo>
                  <a:pt x="14078752" y="0"/>
                </a:lnTo>
                <a:lnTo>
                  <a:pt x="14078752" y="7092171"/>
                </a:lnTo>
                <a:lnTo>
                  <a:pt x="0" y="7092171"/>
                </a:lnTo>
                <a:lnTo>
                  <a:pt x="0" y="0"/>
                </a:lnTo>
                <a:close/>
              </a:path>
            </a:pathLst>
          </a:custGeom>
          <a:blipFill>
            <a:blip r:embed="rId10"/>
            <a:stretch>
              <a:fillRect l="0" t="0" r="0" b="0"/>
            </a:stretch>
          </a:blipFill>
        </p:spPr>
      </p:sp>
      <p:sp>
        <p:nvSpPr>
          <p:cNvPr name="TextBox 8" id="8"/>
          <p:cNvSpPr txBox="true"/>
          <p:nvPr/>
        </p:nvSpPr>
        <p:spPr>
          <a:xfrm rot="0">
            <a:off x="4791720" y="770950"/>
            <a:ext cx="870456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PLANNED ANALYSIS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36190" y="3156393"/>
            <a:ext cx="17215620" cy="4927971"/>
          </a:xfrm>
          <a:custGeom>
            <a:avLst/>
            <a:gdLst/>
            <a:ahLst/>
            <a:cxnLst/>
            <a:rect r="r" b="b" t="t" l="l"/>
            <a:pathLst>
              <a:path h="4927971" w="17215620">
                <a:moveTo>
                  <a:pt x="0" y="0"/>
                </a:moveTo>
                <a:lnTo>
                  <a:pt x="17215620" y="0"/>
                </a:lnTo>
                <a:lnTo>
                  <a:pt x="17215620" y="4927971"/>
                </a:lnTo>
                <a:lnTo>
                  <a:pt x="0" y="4927971"/>
                </a:lnTo>
                <a:lnTo>
                  <a:pt x="0" y="0"/>
                </a:lnTo>
                <a:close/>
              </a:path>
            </a:pathLst>
          </a:custGeom>
          <a:blipFill>
            <a:blip r:embed="rId10"/>
            <a:stretch>
              <a:fillRect l="0" t="0" r="0" b="0"/>
            </a:stretch>
          </a:blipFill>
        </p:spPr>
      </p:sp>
      <p:sp>
        <p:nvSpPr>
          <p:cNvPr name="TextBox 8" id="8"/>
          <p:cNvSpPr txBox="true"/>
          <p:nvPr/>
        </p:nvSpPr>
        <p:spPr>
          <a:xfrm rot="0">
            <a:off x="4791720" y="770950"/>
            <a:ext cx="870456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PLANNED ANALYSIS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3425917"/>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110644" y="2350488"/>
            <a:ext cx="8066712"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RESEARCH QUESTION 2</a:t>
            </a:r>
          </a:p>
        </p:txBody>
      </p:sp>
      <p:sp>
        <p:nvSpPr>
          <p:cNvPr name="TextBox 8" id="8"/>
          <p:cNvSpPr txBox="true"/>
          <p:nvPr/>
        </p:nvSpPr>
        <p:spPr>
          <a:xfrm rot="0">
            <a:off x="1434618" y="4229592"/>
            <a:ext cx="16062398" cy="3733800"/>
          </a:xfrm>
          <a:prstGeom prst="rect">
            <a:avLst/>
          </a:prstGeom>
        </p:spPr>
        <p:txBody>
          <a:bodyPr anchor="t" rtlCol="false" tIns="0" lIns="0" bIns="0" rIns="0">
            <a:spAutoFit/>
          </a:bodyPr>
          <a:lstStyle/>
          <a:p>
            <a:pPr algn="just">
              <a:lnSpc>
                <a:spcPts val="4200"/>
              </a:lnSpc>
            </a:pPr>
            <a:r>
              <a:rPr lang="en-US" sz="3000">
                <a:solidFill>
                  <a:srgbClr val="163C3F"/>
                </a:solidFill>
                <a:latin typeface="Arimo"/>
                <a:ea typeface="Arimo"/>
                <a:cs typeface="Arimo"/>
                <a:sym typeface="Arimo"/>
              </a:rPr>
              <a:t>Research Question 2: How is likeability influenced by role and QRP severity?</a:t>
            </a:r>
          </a:p>
          <a:p>
            <a:pPr algn="just" marL="647700" indent="-323850" lvl="1">
              <a:lnSpc>
                <a:spcPts val="4200"/>
              </a:lnSpc>
              <a:buFont typeface="Arial"/>
              <a:buChar char="•"/>
            </a:pPr>
            <a:r>
              <a:rPr lang="en-US" sz="3000">
                <a:solidFill>
                  <a:srgbClr val="163C3F"/>
                </a:solidFill>
                <a:latin typeface="Arimo"/>
                <a:ea typeface="Arimo"/>
                <a:cs typeface="Arimo"/>
                <a:sym typeface="Arimo"/>
              </a:rPr>
              <a:t>Hypothesis 2a: Investigators will be rated more likable than inspectors. </a:t>
            </a:r>
          </a:p>
          <a:p>
            <a:pPr algn="just" marL="647700" indent="-323850" lvl="1">
              <a:lnSpc>
                <a:spcPts val="4200"/>
              </a:lnSpc>
              <a:buFont typeface="Arial"/>
              <a:buChar char="•"/>
            </a:pPr>
            <a:r>
              <a:rPr lang="en-US" sz="3000">
                <a:solidFill>
                  <a:srgbClr val="163C3F"/>
                </a:solidFill>
                <a:latin typeface="Arimo"/>
                <a:ea typeface="Arimo"/>
                <a:cs typeface="Arimo"/>
                <a:sym typeface="Arimo"/>
              </a:rPr>
              <a:t>Hypothesis 2b: At low QRP severity, investigators will be rated as more likeable than inspectors, but at high QRP severity, inspectors will be rated as more likeable than investigators.</a:t>
            </a:r>
          </a:p>
          <a:p>
            <a:pPr algn="just">
              <a:lnSpc>
                <a:spcPts val="4200"/>
              </a:lnSpc>
            </a:pPr>
          </a:p>
          <a:p>
            <a:pPr algn="just">
              <a:lnSpc>
                <a:spcPts val="4200"/>
              </a:lnSpc>
            </a:pPr>
          </a:p>
        </p:txBody>
      </p:sp>
      <p:sp>
        <p:nvSpPr>
          <p:cNvPr name="TextBox 9" id="9"/>
          <p:cNvSpPr txBox="true"/>
          <p:nvPr/>
        </p:nvSpPr>
        <p:spPr>
          <a:xfrm rot="0">
            <a:off x="4471321" y="319979"/>
            <a:ext cx="5452746" cy="744633"/>
          </a:xfrm>
          <a:prstGeom prst="rect">
            <a:avLst/>
          </a:prstGeom>
        </p:spPr>
        <p:txBody>
          <a:bodyPr anchor="t" rtlCol="false" tIns="0" lIns="0" bIns="0" rIns="0">
            <a:spAutoFit/>
          </a:bodyPr>
          <a:lstStyle/>
          <a:p>
            <a:pPr algn="l">
              <a:lnSpc>
                <a:spcPts val="1822"/>
              </a:lnSpc>
            </a:pPr>
            <a:r>
              <a:rPr lang="en-US" sz="1822" b="true">
                <a:solidFill>
                  <a:srgbClr val="163C3F"/>
                </a:solidFill>
                <a:latin typeface="Arimo Bold"/>
                <a:ea typeface="Arimo Bold"/>
                <a:cs typeface="Arimo Bold"/>
                <a:sym typeface="Arimo Bold"/>
              </a:rPr>
              <a:t>Investigators = those who commit QRPs</a:t>
            </a:r>
          </a:p>
          <a:p>
            <a:pPr algn="l">
              <a:lnSpc>
                <a:spcPts val="1822"/>
              </a:lnSpc>
            </a:pPr>
            <a:r>
              <a:rPr lang="en-US" sz="1822" b="true">
                <a:solidFill>
                  <a:srgbClr val="163C3F"/>
                </a:solidFill>
                <a:latin typeface="Arimo Bold"/>
                <a:ea typeface="Arimo Bold"/>
                <a:cs typeface="Arimo Bold"/>
                <a:sym typeface="Arimo Bold"/>
              </a:rPr>
              <a:t>Inspectors = those who report them</a:t>
            </a:r>
          </a:p>
          <a:p>
            <a:pPr algn="just">
              <a:lnSpc>
                <a:spcPts val="2323"/>
              </a:lnSpc>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4791720" y="770950"/>
            <a:ext cx="870456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PLANNED ANALYSIS</a:t>
            </a:r>
          </a:p>
        </p:txBody>
      </p:sp>
      <p:sp>
        <p:nvSpPr>
          <p:cNvPr name="TextBox 8" id="8"/>
          <p:cNvSpPr txBox="true"/>
          <p:nvPr/>
        </p:nvSpPr>
        <p:spPr>
          <a:xfrm rot="0">
            <a:off x="1281049" y="3084076"/>
            <a:ext cx="16180261" cy="5292577"/>
          </a:xfrm>
          <a:prstGeom prst="rect">
            <a:avLst/>
          </a:prstGeom>
        </p:spPr>
        <p:txBody>
          <a:bodyPr anchor="t" rtlCol="false" tIns="0" lIns="0" bIns="0" rIns="0">
            <a:spAutoFit/>
          </a:bodyPr>
          <a:lstStyle/>
          <a:p>
            <a:pPr algn="just">
              <a:lnSpc>
                <a:spcPts val="3511"/>
              </a:lnSpc>
            </a:pPr>
            <a:r>
              <a:rPr lang="en-US" sz="3511" b="true">
                <a:solidFill>
                  <a:srgbClr val="163C3F"/>
                </a:solidFill>
                <a:latin typeface="Arimo Bold"/>
                <a:ea typeface="Arimo Bold"/>
                <a:cs typeface="Arimo Bold"/>
                <a:sym typeface="Arimo Bold"/>
              </a:rPr>
              <a:t>Model 0: Y</a:t>
            </a:r>
            <a:r>
              <a:rPr lang="en-US" sz="3511" b="true">
                <a:solidFill>
                  <a:srgbClr val="163C3F"/>
                </a:solidFill>
                <a:latin typeface="Arimo Bold"/>
                <a:ea typeface="Arimo Bold"/>
                <a:cs typeface="Arimo Bold"/>
                <a:sym typeface="Arimo Bold"/>
              </a:rPr>
              <a:t>ijk</a:t>
            </a:r>
            <a:r>
              <a:rPr lang="en-US" sz="3511" b="true">
                <a:solidFill>
                  <a:srgbClr val="163C3F"/>
                </a:solidFill>
                <a:latin typeface="Arimo Bold"/>
                <a:ea typeface="Arimo Bold"/>
                <a:cs typeface="Arimo Bold"/>
                <a:sym typeface="Arimo Bold"/>
              </a:rPr>
              <a:t> = γ</a:t>
            </a:r>
            <a:r>
              <a:rPr lang="en-US" sz="3511" b="true">
                <a:solidFill>
                  <a:srgbClr val="163C3F"/>
                </a:solidFill>
                <a:latin typeface="Arimo Bold"/>
                <a:ea typeface="Arimo Bold"/>
                <a:cs typeface="Arimo Bold"/>
                <a:sym typeface="Arimo Bold"/>
              </a:rPr>
              <a:t>000</a:t>
            </a:r>
            <a:r>
              <a:rPr lang="en-US" sz="3511" b="true">
                <a:solidFill>
                  <a:srgbClr val="163C3F"/>
                </a:solidFill>
                <a:latin typeface="Arimo Bold"/>
                <a:ea typeface="Arimo Bold"/>
                <a:cs typeface="Arimo Bold"/>
                <a:sym typeface="Arimo Bold"/>
              </a:rPr>
              <a:t> + ν</a:t>
            </a:r>
            <a:r>
              <a:rPr lang="en-US" sz="3511" b="true">
                <a:solidFill>
                  <a:srgbClr val="163C3F"/>
                </a:solidFill>
                <a:latin typeface="Arimo Bold"/>
                <a:ea typeface="Arimo Bold"/>
                <a:cs typeface="Arimo Bold"/>
                <a:sym typeface="Arimo Bold"/>
              </a:rPr>
              <a:t>0k</a:t>
            </a:r>
            <a:r>
              <a:rPr lang="en-US" sz="3511" b="true">
                <a:solidFill>
                  <a:srgbClr val="163C3F"/>
                </a:solidFill>
                <a:latin typeface="Arimo Bold"/>
                <a:ea typeface="Arimo Bold"/>
                <a:cs typeface="Arimo Bold"/>
                <a:sym typeface="Arimo Bold"/>
              </a:rPr>
              <a:t> + μ</a:t>
            </a:r>
            <a:r>
              <a:rPr lang="en-US" sz="3511" b="true">
                <a:solidFill>
                  <a:srgbClr val="163C3F"/>
                </a:solidFill>
                <a:latin typeface="Arimo Bold"/>
                <a:ea typeface="Arimo Bold"/>
                <a:cs typeface="Arimo Bold"/>
                <a:sym typeface="Arimo Bold"/>
              </a:rPr>
              <a:t>0jk</a:t>
            </a:r>
            <a:r>
              <a:rPr lang="en-US" sz="3511" b="true">
                <a:solidFill>
                  <a:srgbClr val="163C3F"/>
                </a:solidFill>
                <a:latin typeface="Arimo Bold"/>
                <a:ea typeface="Arimo Bold"/>
                <a:cs typeface="Arimo Bold"/>
                <a:sym typeface="Arimo Bold"/>
              </a:rPr>
              <a:t> + ε</a:t>
            </a:r>
            <a:r>
              <a:rPr lang="en-US" sz="3511" b="true">
                <a:solidFill>
                  <a:srgbClr val="163C3F"/>
                </a:solidFill>
                <a:latin typeface="Arimo Bold"/>
                <a:ea typeface="Arimo Bold"/>
                <a:cs typeface="Arimo Bold"/>
                <a:sym typeface="Arimo Bold"/>
              </a:rPr>
              <a:t>ijk</a:t>
            </a:r>
            <a:r>
              <a:rPr lang="en-US" sz="3511" b="true">
                <a:solidFill>
                  <a:srgbClr val="163C3F"/>
                </a:solidFill>
                <a:latin typeface="Arimo Bold"/>
                <a:ea typeface="Arimo Bold"/>
                <a:cs typeface="Arimo Bold"/>
                <a:sym typeface="Arimo Bold"/>
              </a:rPr>
              <a:t>). </a:t>
            </a:r>
          </a:p>
          <a:p>
            <a:pPr algn="just">
              <a:lnSpc>
                <a:spcPts val="3511"/>
              </a:lnSpc>
            </a:pPr>
          </a:p>
          <a:p>
            <a:pPr algn="just">
              <a:lnSpc>
                <a:spcPts val="3511"/>
              </a:lnSpc>
              <a:spcBef>
                <a:spcPct val="0"/>
              </a:spcBef>
            </a:pPr>
            <a:r>
              <a:rPr lang="en-US" b="true" sz="3511">
                <a:solidFill>
                  <a:srgbClr val="163C3F"/>
                </a:solidFill>
                <a:latin typeface="Arimo Bold"/>
                <a:ea typeface="Arimo Bold"/>
                <a:cs typeface="Arimo Bold"/>
                <a:sym typeface="Arimo Bold"/>
              </a:rPr>
              <a:t>M</a:t>
            </a:r>
            <a:r>
              <a:rPr lang="en-US" b="true" sz="3511">
                <a:solidFill>
                  <a:srgbClr val="163C3F"/>
                </a:solidFill>
                <a:latin typeface="Arimo Bold"/>
                <a:ea typeface="Arimo Bold"/>
                <a:cs typeface="Arimo Bold"/>
                <a:sym typeface="Arimo Bold"/>
              </a:rPr>
              <a:t>odel 1: Trust/Likeability</a:t>
            </a:r>
            <a:r>
              <a:rPr lang="en-US" b="true" sz="3511">
                <a:solidFill>
                  <a:srgbClr val="163C3F"/>
                </a:solidFill>
                <a:latin typeface="Arimo Bold"/>
                <a:ea typeface="Arimo Bold"/>
                <a:cs typeface="Arimo Bold"/>
                <a:sym typeface="Arimo Bold"/>
              </a:rPr>
              <a:t>ijk </a:t>
            </a:r>
            <a:r>
              <a:rPr lang="en-US" b="true" sz="3511">
                <a:solidFill>
                  <a:srgbClr val="163C3F"/>
                </a:solidFill>
                <a:latin typeface="Arimo Bold"/>
                <a:ea typeface="Arimo Bold"/>
                <a:cs typeface="Arimo Bold"/>
                <a:sym typeface="Arimo Bold"/>
              </a:rPr>
              <a:t>= γ</a:t>
            </a:r>
            <a:r>
              <a:rPr lang="en-US" b="true" sz="3511">
                <a:solidFill>
                  <a:srgbClr val="163C3F"/>
                </a:solidFill>
                <a:latin typeface="Arimo Bold"/>
                <a:ea typeface="Arimo Bold"/>
                <a:cs typeface="Arimo Bold"/>
                <a:sym typeface="Arimo Bold"/>
              </a:rPr>
              <a:t>000</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100</a:t>
            </a:r>
            <a:r>
              <a:rPr lang="en-US" b="true" sz="3511">
                <a:solidFill>
                  <a:srgbClr val="163C3F"/>
                </a:solidFill>
                <a:latin typeface="Arimo Bold"/>
                <a:ea typeface="Arimo Bold"/>
                <a:cs typeface="Arimo Bold"/>
                <a:sym typeface="Arimo Bold"/>
              </a:rPr>
              <a:t> (Researcher</a:t>
            </a:r>
            <a:r>
              <a:rPr lang="en-US" b="true" sz="3511">
                <a:solidFill>
                  <a:srgbClr val="163C3F"/>
                </a:solidFill>
                <a:latin typeface="Arimo Bold"/>
                <a:ea typeface="Arimo Bold"/>
                <a:cs typeface="Arimo Bold"/>
                <a:sym typeface="Arimo Bold"/>
              </a:rPr>
              <a:t>j</a:t>
            </a:r>
            <a:r>
              <a:rPr lang="en-US" b="true" sz="3511">
                <a:solidFill>
                  <a:srgbClr val="163C3F"/>
                </a:solidFill>
                <a:latin typeface="Arimo Bold"/>
                <a:ea typeface="Arimo Bold"/>
                <a:cs typeface="Arimo Bold"/>
                <a:sym typeface="Arimo Bold"/>
              </a:rPr>
              <a:t>) + ν</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μ</a:t>
            </a:r>
            <a:r>
              <a:rPr lang="en-US" b="true" sz="3511">
                <a:solidFill>
                  <a:srgbClr val="163C3F"/>
                </a:solidFill>
                <a:latin typeface="Arimo Bold"/>
                <a:ea typeface="Arimo Bold"/>
                <a:cs typeface="Arimo Bold"/>
                <a:sym typeface="Arimo Bold"/>
              </a:rPr>
              <a:t>0jk</a:t>
            </a:r>
            <a:r>
              <a:rPr lang="en-US" b="true" sz="3511">
                <a:solidFill>
                  <a:srgbClr val="163C3F"/>
                </a:solidFill>
                <a:latin typeface="Arimo Bold"/>
                <a:ea typeface="Arimo Bold"/>
                <a:cs typeface="Arimo Bold"/>
                <a:sym typeface="Arimo Bold"/>
              </a:rPr>
              <a:t> + ε</a:t>
            </a:r>
            <a:r>
              <a:rPr lang="en-US" b="true" sz="3511">
                <a:solidFill>
                  <a:srgbClr val="163C3F"/>
                </a:solidFill>
                <a:latin typeface="Arimo Bold"/>
                <a:ea typeface="Arimo Bold"/>
                <a:cs typeface="Arimo Bold"/>
                <a:sym typeface="Arimo Bold"/>
              </a:rPr>
              <a:t>ijk</a:t>
            </a:r>
            <a:r>
              <a:rPr lang="en-US" b="true" sz="3511">
                <a:solidFill>
                  <a:srgbClr val="163C3F"/>
                </a:solidFill>
                <a:latin typeface="Arimo Bold"/>
                <a:ea typeface="Arimo Bold"/>
                <a:cs typeface="Arimo Bold"/>
                <a:sym typeface="Arimo Bold"/>
              </a:rPr>
              <a:t> </a:t>
            </a:r>
          </a:p>
          <a:p>
            <a:pPr algn="just">
              <a:lnSpc>
                <a:spcPts val="3511"/>
              </a:lnSpc>
              <a:spcBef>
                <a:spcPct val="0"/>
              </a:spcBef>
            </a:pPr>
          </a:p>
          <a:p>
            <a:pPr algn="just">
              <a:lnSpc>
                <a:spcPts val="3511"/>
              </a:lnSpc>
              <a:spcBef>
                <a:spcPct val="0"/>
              </a:spcBef>
            </a:pPr>
            <a:r>
              <a:rPr lang="en-US" b="true" sz="3511">
                <a:solidFill>
                  <a:srgbClr val="163C3F"/>
                </a:solidFill>
                <a:latin typeface="Arimo Bold"/>
                <a:ea typeface="Arimo Bold"/>
                <a:cs typeface="Arimo Bold"/>
                <a:sym typeface="Arimo Bold"/>
              </a:rPr>
              <a:t>Model 2: Trust/Likeability</a:t>
            </a:r>
            <a:r>
              <a:rPr lang="en-US" b="true" sz="3511">
                <a:solidFill>
                  <a:srgbClr val="163C3F"/>
                </a:solidFill>
                <a:latin typeface="Arimo Bold"/>
                <a:ea typeface="Arimo Bold"/>
                <a:cs typeface="Arimo Bold"/>
                <a:sym typeface="Arimo Bold"/>
              </a:rPr>
              <a:t>ijk</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000</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010</a:t>
            </a:r>
            <a:r>
              <a:rPr lang="en-US" b="true" sz="3511">
                <a:solidFill>
                  <a:srgbClr val="163C3F"/>
                </a:solidFill>
                <a:latin typeface="Arimo Bold"/>
                <a:ea typeface="Arimo Bold"/>
                <a:cs typeface="Arimo Bold"/>
                <a:sym typeface="Arimo Bold"/>
              </a:rPr>
              <a:t> (Severity</a:t>
            </a:r>
            <a:r>
              <a:rPr lang="en-US" b="true" sz="3511">
                <a:solidFill>
                  <a:srgbClr val="163C3F"/>
                </a:solidFill>
                <a:latin typeface="Arimo Bold"/>
                <a:ea typeface="Arimo Bold"/>
                <a:cs typeface="Arimo Bold"/>
                <a:sym typeface="Arimo Bold"/>
              </a:rPr>
              <a:t>k</a:t>
            </a:r>
            <a:r>
              <a:rPr lang="en-US" b="true" sz="3511">
                <a:solidFill>
                  <a:srgbClr val="163C3F"/>
                </a:solidFill>
                <a:latin typeface="Arimo Bold"/>
                <a:ea typeface="Arimo Bold"/>
                <a:cs typeface="Arimo Bold"/>
                <a:sym typeface="Arimo Bold"/>
              </a:rPr>
              <a:t>) + ν</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μ</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ε</a:t>
            </a:r>
            <a:r>
              <a:rPr lang="en-US" b="true" sz="3511">
                <a:solidFill>
                  <a:srgbClr val="163C3F"/>
                </a:solidFill>
                <a:latin typeface="Arimo Bold"/>
                <a:ea typeface="Arimo Bold"/>
                <a:cs typeface="Arimo Bold"/>
                <a:sym typeface="Arimo Bold"/>
              </a:rPr>
              <a:t>ijk</a:t>
            </a:r>
          </a:p>
          <a:p>
            <a:pPr algn="just">
              <a:lnSpc>
                <a:spcPts val="3511"/>
              </a:lnSpc>
              <a:spcBef>
                <a:spcPct val="0"/>
              </a:spcBef>
            </a:pPr>
          </a:p>
          <a:p>
            <a:pPr algn="just">
              <a:lnSpc>
                <a:spcPts val="3511"/>
              </a:lnSpc>
              <a:spcBef>
                <a:spcPct val="0"/>
              </a:spcBef>
            </a:pPr>
            <a:r>
              <a:rPr lang="en-US" b="true" sz="3511">
                <a:solidFill>
                  <a:srgbClr val="163C3F"/>
                </a:solidFill>
                <a:latin typeface="Arimo Bold"/>
                <a:ea typeface="Arimo Bold"/>
                <a:cs typeface="Arimo Bold"/>
                <a:sym typeface="Arimo Bold"/>
              </a:rPr>
              <a:t>Model 3: Trust/Likeability</a:t>
            </a:r>
            <a:r>
              <a:rPr lang="en-US" b="true" sz="3511">
                <a:solidFill>
                  <a:srgbClr val="163C3F"/>
                </a:solidFill>
                <a:latin typeface="Arimo Bold"/>
                <a:ea typeface="Arimo Bold"/>
                <a:cs typeface="Arimo Bold"/>
                <a:sym typeface="Arimo Bold"/>
              </a:rPr>
              <a:t>ijk</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000</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100</a:t>
            </a:r>
            <a:r>
              <a:rPr lang="en-US" b="true" sz="3511">
                <a:solidFill>
                  <a:srgbClr val="163C3F"/>
                </a:solidFill>
                <a:latin typeface="Arimo Bold"/>
                <a:ea typeface="Arimo Bold"/>
                <a:cs typeface="Arimo Bold"/>
                <a:sym typeface="Arimo Bold"/>
              </a:rPr>
              <a:t> (Researcher</a:t>
            </a:r>
            <a:r>
              <a:rPr lang="en-US" b="true" sz="3511">
                <a:solidFill>
                  <a:srgbClr val="163C3F"/>
                </a:solidFill>
                <a:latin typeface="Arimo Bold"/>
                <a:ea typeface="Arimo Bold"/>
                <a:cs typeface="Arimo Bold"/>
                <a:sym typeface="Arimo Bold"/>
              </a:rPr>
              <a:t>j</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010</a:t>
            </a:r>
            <a:r>
              <a:rPr lang="en-US" b="true" sz="3511">
                <a:solidFill>
                  <a:srgbClr val="163C3F"/>
                </a:solidFill>
                <a:latin typeface="Arimo Bold"/>
                <a:ea typeface="Arimo Bold"/>
                <a:cs typeface="Arimo Bold"/>
                <a:sym typeface="Arimo Bold"/>
              </a:rPr>
              <a:t> (Severity</a:t>
            </a:r>
            <a:r>
              <a:rPr lang="en-US" b="true" sz="3511">
                <a:solidFill>
                  <a:srgbClr val="163C3F"/>
                </a:solidFill>
                <a:latin typeface="Arimo Bold"/>
                <a:ea typeface="Arimo Bold"/>
                <a:cs typeface="Arimo Bold"/>
                <a:sym typeface="Arimo Bold"/>
              </a:rPr>
              <a:t>k</a:t>
            </a:r>
            <a:r>
              <a:rPr lang="en-US" b="true" sz="3511">
                <a:solidFill>
                  <a:srgbClr val="163C3F"/>
                </a:solidFill>
                <a:latin typeface="Arimo Bold"/>
                <a:ea typeface="Arimo Bold"/>
                <a:cs typeface="Arimo Bold"/>
                <a:sym typeface="Arimo Bold"/>
              </a:rPr>
              <a:t>) + ν</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μ</a:t>
            </a:r>
            <a:r>
              <a:rPr lang="en-US" b="true" sz="3511">
                <a:solidFill>
                  <a:srgbClr val="163C3F"/>
                </a:solidFill>
                <a:latin typeface="Arimo Bold"/>
                <a:ea typeface="Arimo Bold"/>
                <a:cs typeface="Arimo Bold"/>
                <a:sym typeface="Arimo Bold"/>
              </a:rPr>
              <a:t>0jk</a:t>
            </a:r>
            <a:r>
              <a:rPr lang="en-US" b="true" sz="3511">
                <a:solidFill>
                  <a:srgbClr val="163C3F"/>
                </a:solidFill>
                <a:latin typeface="Arimo Bold"/>
                <a:ea typeface="Arimo Bold"/>
                <a:cs typeface="Arimo Bold"/>
                <a:sym typeface="Arimo Bold"/>
              </a:rPr>
              <a:t> + ε</a:t>
            </a:r>
            <a:r>
              <a:rPr lang="en-US" b="true" sz="3511">
                <a:solidFill>
                  <a:srgbClr val="163C3F"/>
                </a:solidFill>
                <a:latin typeface="Arimo Bold"/>
                <a:ea typeface="Arimo Bold"/>
                <a:cs typeface="Arimo Bold"/>
                <a:sym typeface="Arimo Bold"/>
              </a:rPr>
              <a:t>ijk</a:t>
            </a:r>
          </a:p>
          <a:p>
            <a:pPr algn="just">
              <a:lnSpc>
                <a:spcPts val="3511"/>
              </a:lnSpc>
              <a:spcBef>
                <a:spcPct val="0"/>
              </a:spcBef>
            </a:pPr>
          </a:p>
          <a:p>
            <a:pPr algn="just">
              <a:lnSpc>
                <a:spcPts val="3511"/>
              </a:lnSpc>
              <a:spcBef>
                <a:spcPct val="0"/>
              </a:spcBef>
            </a:pPr>
            <a:r>
              <a:rPr lang="en-US" b="true" sz="3511">
                <a:solidFill>
                  <a:srgbClr val="163C3F"/>
                </a:solidFill>
                <a:latin typeface="Arimo Bold"/>
                <a:ea typeface="Arimo Bold"/>
                <a:cs typeface="Arimo Bold"/>
                <a:sym typeface="Arimo Bold"/>
              </a:rPr>
              <a:t>Model 4: Trust/Likeability</a:t>
            </a:r>
            <a:r>
              <a:rPr lang="en-US" b="true" sz="3511">
                <a:solidFill>
                  <a:srgbClr val="163C3F"/>
                </a:solidFill>
                <a:latin typeface="Arimo Bold"/>
                <a:ea typeface="Arimo Bold"/>
                <a:cs typeface="Arimo Bold"/>
                <a:sym typeface="Arimo Bold"/>
              </a:rPr>
              <a:t>ijk</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000</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100</a:t>
            </a:r>
            <a:r>
              <a:rPr lang="en-US" b="true" sz="3511">
                <a:solidFill>
                  <a:srgbClr val="163C3F"/>
                </a:solidFill>
                <a:latin typeface="Arimo Bold"/>
                <a:ea typeface="Arimo Bold"/>
                <a:cs typeface="Arimo Bold"/>
                <a:sym typeface="Arimo Bold"/>
              </a:rPr>
              <a:t> (Researcher</a:t>
            </a:r>
            <a:r>
              <a:rPr lang="en-US" b="true" sz="3511">
                <a:solidFill>
                  <a:srgbClr val="163C3F"/>
                </a:solidFill>
                <a:latin typeface="Arimo Bold"/>
                <a:ea typeface="Arimo Bold"/>
                <a:cs typeface="Arimo Bold"/>
                <a:sym typeface="Arimo Bold"/>
              </a:rPr>
              <a:t>j</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010</a:t>
            </a:r>
            <a:r>
              <a:rPr lang="en-US" b="true" sz="3511">
                <a:solidFill>
                  <a:srgbClr val="163C3F"/>
                </a:solidFill>
                <a:latin typeface="Arimo Bold"/>
                <a:ea typeface="Arimo Bold"/>
                <a:cs typeface="Arimo Bold"/>
                <a:sym typeface="Arimo Bold"/>
              </a:rPr>
              <a:t> (Severity</a:t>
            </a:r>
            <a:r>
              <a:rPr lang="en-US" b="true" sz="3511">
                <a:solidFill>
                  <a:srgbClr val="163C3F"/>
                </a:solidFill>
                <a:latin typeface="Arimo Bold"/>
                <a:ea typeface="Arimo Bold"/>
                <a:cs typeface="Arimo Bold"/>
                <a:sym typeface="Arimo Bold"/>
              </a:rPr>
              <a:t>k</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110</a:t>
            </a:r>
            <a:r>
              <a:rPr lang="en-US" b="true" sz="3511">
                <a:solidFill>
                  <a:srgbClr val="163C3F"/>
                </a:solidFill>
                <a:latin typeface="Arimo Bold"/>
                <a:ea typeface="Arimo Bold"/>
                <a:cs typeface="Arimo Bold"/>
                <a:sym typeface="Arimo Bold"/>
              </a:rPr>
              <a:t>(Researcher</a:t>
            </a:r>
            <a:r>
              <a:rPr lang="en-US" b="true" sz="3511">
                <a:solidFill>
                  <a:srgbClr val="163C3F"/>
                </a:solidFill>
                <a:latin typeface="Arimo Bold"/>
                <a:ea typeface="Arimo Bold"/>
                <a:cs typeface="Arimo Bold"/>
                <a:sym typeface="Arimo Bold"/>
              </a:rPr>
              <a:t>j</a:t>
            </a:r>
            <a:r>
              <a:rPr lang="en-US" b="true" sz="3511">
                <a:solidFill>
                  <a:srgbClr val="163C3F"/>
                </a:solidFill>
                <a:latin typeface="Arimo Bold"/>
                <a:ea typeface="Arimo Bold"/>
                <a:cs typeface="Arimo Bold"/>
                <a:sym typeface="Arimo Bold"/>
              </a:rPr>
              <a:t> × Severity</a:t>
            </a:r>
            <a:r>
              <a:rPr lang="en-US" b="true" sz="3511">
                <a:solidFill>
                  <a:srgbClr val="163C3F"/>
                </a:solidFill>
                <a:latin typeface="Arimo Bold"/>
                <a:ea typeface="Arimo Bold"/>
                <a:cs typeface="Arimo Bold"/>
                <a:sym typeface="Arimo Bold"/>
              </a:rPr>
              <a:t>k</a:t>
            </a:r>
            <a:r>
              <a:rPr lang="en-US" b="true" sz="3511">
                <a:solidFill>
                  <a:srgbClr val="163C3F"/>
                </a:solidFill>
                <a:latin typeface="Arimo Bold"/>
                <a:ea typeface="Arimo Bold"/>
                <a:cs typeface="Arimo Bold"/>
                <a:sym typeface="Arimo Bold"/>
              </a:rPr>
              <a:t>) + ν</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μ</a:t>
            </a:r>
            <a:r>
              <a:rPr lang="en-US" b="true" sz="3511">
                <a:solidFill>
                  <a:srgbClr val="163C3F"/>
                </a:solidFill>
                <a:latin typeface="Arimo Bold"/>
                <a:ea typeface="Arimo Bold"/>
                <a:cs typeface="Arimo Bold"/>
                <a:sym typeface="Arimo Bold"/>
              </a:rPr>
              <a:t>0jk</a:t>
            </a:r>
            <a:r>
              <a:rPr lang="en-US" b="true" sz="3511">
                <a:solidFill>
                  <a:srgbClr val="163C3F"/>
                </a:solidFill>
                <a:latin typeface="Arimo Bold"/>
                <a:ea typeface="Arimo Bold"/>
                <a:cs typeface="Arimo Bold"/>
                <a:sym typeface="Arimo Bold"/>
              </a:rPr>
              <a:t> + ε</a:t>
            </a:r>
            <a:r>
              <a:rPr lang="en-US" b="true" sz="3511">
                <a:solidFill>
                  <a:srgbClr val="163C3F"/>
                </a:solidFill>
                <a:latin typeface="Arimo Bold"/>
                <a:ea typeface="Arimo Bold"/>
                <a:cs typeface="Arimo Bold"/>
                <a:sym typeface="Arimo Bold"/>
              </a:rPr>
              <a:t>ijk</a:t>
            </a:r>
          </a:p>
          <a:p>
            <a:pPr algn="just">
              <a:lnSpc>
                <a:spcPts val="3511"/>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2212817" y="2340930"/>
            <a:ext cx="14794629" cy="7693207"/>
          </a:xfrm>
          <a:custGeom>
            <a:avLst/>
            <a:gdLst/>
            <a:ahLst/>
            <a:cxnLst/>
            <a:rect r="r" b="b" t="t" l="l"/>
            <a:pathLst>
              <a:path h="7693207" w="14794629">
                <a:moveTo>
                  <a:pt x="0" y="0"/>
                </a:moveTo>
                <a:lnTo>
                  <a:pt x="14794630" y="0"/>
                </a:lnTo>
                <a:lnTo>
                  <a:pt x="14794630" y="7693207"/>
                </a:lnTo>
                <a:lnTo>
                  <a:pt x="0" y="7693207"/>
                </a:lnTo>
                <a:lnTo>
                  <a:pt x="0" y="0"/>
                </a:lnTo>
                <a:close/>
              </a:path>
            </a:pathLst>
          </a:custGeom>
          <a:blipFill>
            <a:blip r:embed="rId10"/>
            <a:stretch>
              <a:fillRect l="0" t="0" r="0" b="0"/>
            </a:stretch>
          </a:blipFill>
        </p:spPr>
      </p:sp>
      <p:sp>
        <p:nvSpPr>
          <p:cNvPr name="TextBox 8" id="8"/>
          <p:cNvSpPr txBox="true"/>
          <p:nvPr/>
        </p:nvSpPr>
        <p:spPr>
          <a:xfrm rot="0">
            <a:off x="4791720" y="770950"/>
            <a:ext cx="870456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PLANNED ANALYSIS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191597" y="3344392"/>
            <a:ext cx="16067703" cy="4739972"/>
          </a:xfrm>
          <a:custGeom>
            <a:avLst/>
            <a:gdLst/>
            <a:ahLst/>
            <a:cxnLst/>
            <a:rect r="r" b="b" t="t" l="l"/>
            <a:pathLst>
              <a:path h="4739972" w="16067703">
                <a:moveTo>
                  <a:pt x="0" y="0"/>
                </a:moveTo>
                <a:lnTo>
                  <a:pt x="16067703" y="0"/>
                </a:lnTo>
                <a:lnTo>
                  <a:pt x="16067703" y="4739972"/>
                </a:lnTo>
                <a:lnTo>
                  <a:pt x="0" y="4739972"/>
                </a:lnTo>
                <a:lnTo>
                  <a:pt x="0" y="0"/>
                </a:lnTo>
                <a:close/>
              </a:path>
            </a:pathLst>
          </a:custGeom>
          <a:blipFill>
            <a:blip r:embed="rId10"/>
            <a:stretch>
              <a:fillRect l="0" t="0" r="0" b="0"/>
            </a:stretch>
          </a:blipFill>
        </p:spPr>
      </p:sp>
      <p:sp>
        <p:nvSpPr>
          <p:cNvPr name="TextBox 8" id="8"/>
          <p:cNvSpPr txBox="true"/>
          <p:nvPr/>
        </p:nvSpPr>
        <p:spPr>
          <a:xfrm rot="0">
            <a:off x="4791720" y="770950"/>
            <a:ext cx="870456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PLANNED ANALYSIS</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3425917"/>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415358" y="2350488"/>
            <a:ext cx="7457284"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RESEARCH QUESTION 3</a:t>
            </a:r>
          </a:p>
        </p:txBody>
      </p:sp>
      <p:sp>
        <p:nvSpPr>
          <p:cNvPr name="TextBox 8" id="8"/>
          <p:cNvSpPr txBox="true"/>
          <p:nvPr/>
        </p:nvSpPr>
        <p:spPr>
          <a:xfrm rot="0">
            <a:off x="1629635" y="4655491"/>
            <a:ext cx="15629665" cy="2133600"/>
          </a:xfrm>
          <a:prstGeom prst="rect">
            <a:avLst/>
          </a:prstGeom>
        </p:spPr>
        <p:txBody>
          <a:bodyPr anchor="t" rtlCol="false" tIns="0" lIns="0" bIns="0" rIns="0">
            <a:spAutoFit/>
          </a:bodyPr>
          <a:lstStyle/>
          <a:p>
            <a:pPr algn="just">
              <a:lnSpc>
                <a:spcPts val="4200"/>
              </a:lnSpc>
            </a:pPr>
            <a:r>
              <a:rPr lang="en-US" sz="3000">
                <a:solidFill>
                  <a:srgbClr val="163C3F"/>
                </a:solidFill>
                <a:latin typeface="Arimo"/>
                <a:ea typeface="Arimo"/>
                <a:cs typeface="Arimo"/>
                <a:sym typeface="Arimo"/>
              </a:rPr>
              <a:t>Research Question 3: Is the perceived trueness of the finding influenced by QRP severity? </a:t>
            </a:r>
          </a:p>
          <a:p>
            <a:pPr algn="just" marL="647700" indent="-323850" lvl="1">
              <a:lnSpc>
                <a:spcPts val="4200"/>
              </a:lnSpc>
              <a:buFont typeface="Arial"/>
              <a:buChar char="•"/>
            </a:pPr>
            <a:r>
              <a:rPr lang="en-US" sz="3000">
                <a:solidFill>
                  <a:srgbClr val="163C3F"/>
                </a:solidFill>
                <a:latin typeface="Arimo"/>
                <a:ea typeface="Arimo"/>
                <a:cs typeface="Arimo"/>
                <a:sym typeface="Arimo"/>
              </a:rPr>
              <a:t>Hypothesis 3: Perceived trueness will decrease as QRP severity increases.</a:t>
            </a:r>
          </a:p>
          <a:p>
            <a:pPr algn="just">
              <a:lnSpc>
                <a:spcPts val="4200"/>
              </a:lnSpc>
            </a:pPr>
          </a:p>
          <a:p>
            <a:pPr algn="just">
              <a:lnSpc>
                <a:spcPts val="4200"/>
              </a:lnSpc>
            </a:pPr>
          </a:p>
        </p:txBody>
      </p:sp>
      <p:sp>
        <p:nvSpPr>
          <p:cNvPr name="TextBox 9" id="9"/>
          <p:cNvSpPr txBox="true"/>
          <p:nvPr/>
        </p:nvSpPr>
        <p:spPr>
          <a:xfrm rot="0">
            <a:off x="4471321" y="319979"/>
            <a:ext cx="5452746" cy="744633"/>
          </a:xfrm>
          <a:prstGeom prst="rect">
            <a:avLst/>
          </a:prstGeom>
        </p:spPr>
        <p:txBody>
          <a:bodyPr anchor="t" rtlCol="false" tIns="0" lIns="0" bIns="0" rIns="0">
            <a:spAutoFit/>
          </a:bodyPr>
          <a:lstStyle/>
          <a:p>
            <a:pPr algn="l">
              <a:lnSpc>
                <a:spcPts val="1822"/>
              </a:lnSpc>
            </a:pPr>
            <a:r>
              <a:rPr lang="en-US" sz="1822" b="true">
                <a:solidFill>
                  <a:srgbClr val="163C3F"/>
                </a:solidFill>
                <a:latin typeface="Arimo Bold"/>
                <a:ea typeface="Arimo Bold"/>
                <a:cs typeface="Arimo Bold"/>
                <a:sym typeface="Arimo Bold"/>
              </a:rPr>
              <a:t>Investigators = those who commit QRPs</a:t>
            </a:r>
          </a:p>
          <a:p>
            <a:pPr algn="l">
              <a:lnSpc>
                <a:spcPts val="1822"/>
              </a:lnSpc>
            </a:pPr>
            <a:r>
              <a:rPr lang="en-US" sz="1822" b="true">
                <a:solidFill>
                  <a:srgbClr val="163C3F"/>
                </a:solidFill>
                <a:latin typeface="Arimo Bold"/>
                <a:ea typeface="Arimo Bold"/>
                <a:cs typeface="Arimo Bold"/>
                <a:sym typeface="Arimo Bold"/>
              </a:rPr>
              <a:t>Inspectors = those who report them</a:t>
            </a:r>
          </a:p>
          <a:p>
            <a:pPr algn="just">
              <a:lnSpc>
                <a:spcPts val="2323"/>
              </a:lnSpc>
            </a:p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615140" y="4171458"/>
            <a:ext cx="15644160" cy="4165258"/>
          </a:xfrm>
          <a:custGeom>
            <a:avLst/>
            <a:gdLst/>
            <a:ahLst/>
            <a:cxnLst/>
            <a:rect r="r" b="b" t="t" l="l"/>
            <a:pathLst>
              <a:path h="4165258" w="15644160">
                <a:moveTo>
                  <a:pt x="0" y="0"/>
                </a:moveTo>
                <a:lnTo>
                  <a:pt x="15644160" y="0"/>
                </a:lnTo>
                <a:lnTo>
                  <a:pt x="15644160" y="4165258"/>
                </a:lnTo>
                <a:lnTo>
                  <a:pt x="0" y="4165258"/>
                </a:lnTo>
                <a:lnTo>
                  <a:pt x="0" y="0"/>
                </a:lnTo>
                <a:close/>
              </a:path>
            </a:pathLst>
          </a:custGeom>
          <a:blipFill>
            <a:blip r:embed="rId10"/>
            <a:stretch>
              <a:fillRect l="0" t="0" r="0" b="0"/>
            </a:stretch>
          </a:blipFill>
        </p:spPr>
      </p:sp>
      <p:sp>
        <p:nvSpPr>
          <p:cNvPr name="TextBox 8" id="8"/>
          <p:cNvSpPr txBox="true"/>
          <p:nvPr/>
        </p:nvSpPr>
        <p:spPr>
          <a:xfrm rot="0">
            <a:off x="4791720" y="770950"/>
            <a:ext cx="870456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PLANNED ANALYSIS</a:t>
            </a:r>
          </a:p>
        </p:txBody>
      </p:sp>
      <p:sp>
        <p:nvSpPr>
          <p:cNvPr name="TextBox 9" id="9"/>
          <p:cNvSpPr txBox="true"/>
          <p:nvPr/>
        </p:nvSpPr>
        <p:spPr>
          <a:xfrm rot="0">
            <a:off x="3076376" y="2602686"/>
            <a:ext cx="12574239" cy="927662"/>
          </a:xfrm>
          <a:prstGeom prst="rect">
            <a:avLst/>
          </a:prstGeom>
        </p:spPr>
        <p:txBody>
          <a:bodyPr anchor="t" rtlCol="false" tIns="0" lIns="0" bIns="0" rIns="0">
            <a:spAutoFit/>
          </a:bodyPr>
          <a:lstStyle/>
          <a:p>
            <a:pPr algn="just">
              <a:lnSpc>
                <a:spcPts val="3522"/>
              </a:lnSpc>
              <a:spcBef>
                <a:spcPct val="0"/>
              </a:spcBef>
            </a:pPr>
            <a:r>
              <a:rPr lang="en-US" b="true" sz="3522">
                <a:solidFill>
                  <a:srgbClr val="163C3F"/>
                </a:solidFill>
                <a:latin typeface="Arimo Bold"/>
                <a:ea typeface="Arimo Bold"/>
                <a:cs typeface="Arimo Bold"/>
                <a:sym typeface="Arimo Bold"/>
              </a:rPr>
              <a:t>M</a:t>
            </a:r>
            <a:r>
              <a:rPr lang="en-US" b="true" sz="3522">
                <a:solidFill>
                  <a:srgbClr val="163C3F"/>
                </a:solidFill>
                <a:latin typeface="Arimo Bold"/>
                <a:ea typeface="Arimo Bold"/>
                <a:cs typeface="Arimo Bold"/>
                <a:sym typeface="Arimo Bold"/>
              </a:rPr>
              <a:t>odel FT1: Trueness</a:t>
            </a:r>
            <a:r>
              <a:rPr lang="en-US" b="true" sz="3522">
                <a:solidFill>
                  <a:srgbClr val="163C3F"/>
                </a:solidFill>
                <a:latin typeface="Arimo Bold"/>
                <a:ea typeface="Arimo Bold"/>
                <a:cs typeface="Arimo Bold"/>
                <a:sym typeface="Arimo Bold"/>
              </a:rPr>
              <a:t>ijk</a:t>
            </a:r>
            <a:r>
              <a:rPr lang="en-US" b="true" sz="3522">
                <a:solidFill>
                  <a:srgbClr val="163C3F"/>
                </a:solidFill>
                <a:latin typeface="Arimo Bold"/>
                <a:ea typeface="Arimo Bold"/>
                <a:cs typeface="Arimo Bold"/>
                <a:sym typeface="Arimo Bold"/>
              </a:rPr>
              <a:t>= γ</a:t>
            </a:r>
            <a:r>
              <a:rPr lang="en-US" b="true" sz="3522">
                <a:solidFill>
                  <a:srgbClr val="163C3F"/>
                </a:solidFill>
                <a:latin typeface="Arimo Bold"/>
                <a:ea typeface="Arimo Bold"/>
                <a:cs typeface="Arimo Bold"/>
                <a:sym typeface="Arimo Bold"/>
              </a:rPr>
              <a:t>000</a:t>
            </a:r>
            <a:r>
              <a:rPr lang="en-US" b="true" sz="3522">
                <a:solidFill>
                  <a:srgbClr val="163C3F"/>
                </a:solidFill>
                <a:latin typeface="Arimo Bold"/>
                <a:ea typeface="Arimo Bold"/>
                <a:cs typeface="Arimo Bold"/>
                <a:sym typeface="Arimo Bold"/>
              </a:rPr>
              <a:t> + γ</a:t>
            </a:r>
            <a:r>
              <a:rPr lang="en-US" b="true" sz="3522">
                <a:solidFill>
                  <a:srgbClr val="163C3F"/>
                </a:solidFill>
                <a:latin typeface="Arimo Bold"/>
                <a:ea typeface="Arimo Bold"/>
                <a:cs typeface="Arimo Bold"/>
                <a:sym typeface="Arimo Bold"/>
              </a:rPr>
              <a:t>010</a:t>
            </a:r>
            <a:r>
              <a:rPr lang="en-US" b="true" sz="3522">
                <a:solidFill>
                  <a:srgbClr val="163C3F"/>
                </a:solidFill>
                <a:latin typeface="Arimo Bold"/>
                <a:ea typeface="Arimo Bold"/>
                <a:cs typeface="Arimo Bold"/>
                <a:sym typeface="Arimo Bold"/>
              </a:rPr>
              <a:t> (Severity</a:t>
            </a:r>
            <a:r>
              <a:rPr lang="en-US" b="true" sz="3522">
                <a:solidFill>
                  <a:srgbClr val="163C3F"/>
                </a:solidFill>
                <a:latin typeface="Arimo Bold"/>
                <a:ea typeface="Arimo Bold"/>
                <a:cs typeface="Arimo Bold"/>
                <a:sym typeface="Arimo Bold"/>
              </a:rPr>
              <a:t>k</a:t>
            </a:r>
            <a:r>
              <a:rPr lang="en-US" b="true" sz="3522">
                <a:solidFill>
                  <a:srgbClr val="163C3F"/>
                </a:solidFill>
                <a:latin typeface="Arimo Bold"/>
                <a:ea typeface="Arimo Bold"/>
                <a:cs typeface="Arimo Bold"/>
                <a:sym typeface="Arimo Bold"/>
              </a:rPr>
              <a:t>) + ν</a:t>
            </a:r>
            <a:r>
              <a:rPr lang="en-US" b="true" sz="3522">
                <a:solidFill>
                  <a:srgbClr val="163C3F"/>
                </a:solidFill>
                <a:latin typeface="Arimo Bold"/>
                <a:ea typeface="Arimo Bold"/>
                <a:cs typeface="Arimo Bold"/>
                <a:sym typeface="Arimo Bold"/>
              </a:rPr>
              <a:t>0k</a:t>
            </a:r>
            <a:r>
              <a:rPr lang="en-US" b="true" sz="3522">
                <a:solidFill>
                  <a:srgbClr val="163C3F"/>
                </a:solidFill>
                <a:latin typeface="Arimo Bold"/>
                <a:ea typeface="Arimo Bold"/>
                <a:cs typeface="Arimo Bold"/>
                <a:sym typeface="Arimo Bold"/>
              </a:rPr>
              <a:t> + μ</a:t>
            </a:r>
            <a:r>
              <a:rPr lang="en-US" b="true" sz="3522">
                <a:solidFill>
                  <a:srgbClr val="163C3F"/>
                </a:solidFill>
                <a:latin typeface="Arimo Bold"/>
                <a:ea typeface="Arimo Bold"/>
                <a:cs typeface="Arimo Bold"/>
                <a:sym typeface="Arimo Bold"/>
              </a:rPr>
              <a:t>0j</a:t>
            </a:r>
            <a:r>
              <a:rPr lang="en-US" b="true" sz="3522">
                <a:solidFill>
                  <a:srgbClr val="163C3F"/>
                </a:solidFill>
                <a:latin typeface="Arimo Bold"/>
                <a:ea typeface="Arimo Bold"/>
                <a:cs typeface="Arimo Bold"/>
                <a:sym typeface="Arimo Bold"/>
              </a:rPr>
              <a:t> + ε</a:t>
            </a:r>
            <a:r>
              <a:rPr lang="en-US" b="true" sz="3522">
                <a:solidFill>
                  <a:srgbClr val="163C3F"/>
                </a:solidFill>
                <a:latin typeface="Arimo Bold"/>
                <a:ea typeface="Arimo Bold"/>
                <a:cs typeface="Arimo Bold"/>
                <a:sym typeface="Arimo Bold"/>
              </a:rPr>
              <a:t>ijk</a:t>
            </a:r>
            <a:r>
              <a:rPr lang="en-US" b="true" sz="3522">
                <a:solidFill>
                  <a:srgbClr val="163C3F"/>
                </a:solidFill>
                <a:latin typeface="Arimo Bold"/>
                <a:ea typeface="Arimo Bold"/>
                <a:cs typeface="Arimo Bold"/>
                <a:sym typeface="Arimo Bold"/>
              </a:rPr>
              <a:t> </a:t>
            </a:r>
          </a:p>
          <a:p>
            <a:pPr algn="just">
              <a:lnSpc>
                <a:spcPts val="3522"/>
              </a:lnSpc>
              <a:spcBef>
                <a:spcPct val="0"/>
              </a:spcBef>
            </a:pP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5486400" y="1625025"/>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6724361" y="554037"/>
            <a:ext cx="4839278"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NOVELITY?</a:t>
            </a:r>
          </a:p>
        </p:txBody>
      </p:sp>
      <p:sp>
        <p:nvSpPr>
          <p:cNvPr name="TextBox 8" id="8"/>
          <p:cNvSpPr txBox="true"/>
          <p:nvPr/>
        </p:nvSpPr>
        <p:spPr>
          <a:xfrm rot="0">
            <a:off x="1816093" y="3092805"/>
            <a:ext cx="14655813" cy="4676775"/>
          </a:xfrm>
          <a:prstGeom prst="rect">
            <a:avLst/>
          </a:prstGeom>
        </p:spPr>
        <p:txBody>
          <a:bodyPr anchor="t" rtlCol="false" tIns="0" lIns="0" bIns="0" rIns="0">
            <a:spAutoFit/>
          </a:bodyPr>
          <a:lstStyle/>
          <a:p>
            <a:pPr algn="l" marL="863599" indent="-431800" lvl="1">
              <a:lnSpc>
                <a:spcPts val="3999"/>
              </a:lnSpc>
              <a:buFont typeface="Arial"/>
              <a:buChar char="•"/>
            </a:pPr>
            <a:r>
              <a:rPr lang="en-US" sz="3999">
                <a:solidFill>
                  <a:srgbClr val="163C3F"/>
                </a:solidFill>
                <a:latin typeface="Arimo"/>
                <a:ea typeface="Arimo"/>
                <a:cs typeface="Arimo"/>
                <a:sym typeface="Arimo"/>
              </a:rPr>
              <a:t>U</a:t>
            </a:r>
            <a:r>
              <a:rPr lang="en-US" sz="3999">
                <a:solidFill>
                  <a:srgbClr val="163C3F"/>
                </a:solidFill>
                <a:latin typeface="Arimo"/>
                <a:ea typeface="Arimo"/>
                <a:cs typeface="Arimo"/>
                <a:sym typeface="Arimo"/>
              </a:rPr>
              <a:t>nderstanding whistleblowing in science</a:t>
            </a:r>
          </a:p>
          <a:p>
            <a:pPr algn="l">
              <a:lnSpc>
                <a:spcPts val="3999"/>
              </a:lnSpc>
            </a:pPr>
          </a:p>
          <a:p>
            <a:pPr algn="l" marL="863599" indent="-431800" lvl="1">
              <a:lnSpc>
                <a:spcPts val="3999"/>
              </a:lnSpc>
              <a:buFont typeface="Arial"/>
              <a:buChar char="•"/>
            </a:pPr>
            <a:r>
              <a:rPr lang="en-US" sz="3999">
                <a:solidFill>
                  <a:srgbClr val="163C3F"/>
                </a:solidFill>
                <a:latin typeface="Arimo"/>
                <a:ea typeface="Arimo"/>
                <a:cs typeface="Arimo"/>
                <a:sym typeface="Arimo"/>
              </a:rPr>
              <a:t>Examines public perceptions of both those who commit QRPs (Investigators) and those who report them (Inspectors)</a:t>
            </a:r>
          </a:p>
          <a:p>
            <a:pPr algn="l">
              <a:lnSpc>
                <a:spcPts val="3999"/>
              </a:lnSpc>
            </a:pPr>
          </a:p>
          <a:p>
            <a:pPr algn="l" marL="863599" indent="-431800" lvl="1">
              <a:lnSpc>
                <a:spcPts val="3999"/>
              </a:lnSpc>
              <a:buFont typeface="Arial"/>
              <a:buChar char="•"/>
            </a:pPr>
            <a:r>
              <a:rPr lang="en-US" sz="3999">
                <a:solidFill>
                  <a:srgbClr val="163C3F"/>
                </a:solidFill>
                <a:latin typeface="Arimo"/>
                <a:ea typeface="Arimo"/>
                <a:cs typeface="Arimo"/>
                <a:sym typeface="Arimo"/>
              </a:rPr>
              <a:t>Explores the impact of severity on perceptions</a:t>
            </a:r>
          </a:p>
          <a:p>
            <a:pPr algn="l">
              <a:lnSpc>
                <a:spcPts val="3999"/>
              </a:lnSpc>
            </a:pPr>
          </a:p>
          <a:p>
            <a:pPr algn="l" marL="863599" indent="-431800" lvl="1">
              <a:lnSpc>
                <a:spcPts val="3999"/>
              </a:lnSpc>
              <a:buFont typeface="Arial"/>
              <a:buChar char="•"/>
            </a:pPr>
            <a:r>
              <a:rPr lang="en-US" sz="3999">
                <a:solidFill>
                  <a:srgbClr val="163C3F"/>
                </a:solidFill>
                <a:latin typeface="Arimo"/>
                <a:ea typeface="Arimo"/>
                <a:cs typeface="Arimo"/>
                <a:sym typeface="Arimo"/>
              </a:rPr>
              <a:t>Focuses more in depth on trustworthiness and likability</a:t>
            </a:r>
          </a:p>
          <a:p>
            <a:pPr algn="ctr">
              <a:lnSpc>
                <a:spcPts val="5599"/>
              </a:lnSpc>
              <a:spcBef>
                <a:spcPct val="0"/>
              </a:spcBef>
            </a:pP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2852388" y="2567505"/>
            <a:ext cx="12583225" cy="4987533"/>
          </a:xfrm>
          <a:custGeom>
            <a:avLst/>
            <a:gdLst/>
            <a:ahLst/>
            <a:cxnLst/>
            <a:rect r="r" b="b" t="t" l="l"/>
            <a:pathLst>
              <a:path h="4987533" w="12583225">
                <a:moveTo>
                  <a:pt x="0" y="0"/>
                </a:moveTo>
                <a:lnTo>
                  <a:pt x="12583224" y="0"/>
                </a:lnTo>
                <a:lnTo>
                  <a:pt x="12583224" y="4987533"/>
                </a:lnTo>
                <a:lnTo>
                  <a:pt x="0" y="4987533"/>
                </a:lnTo>
                <a:lnTo>
                  <a:pt x="0" y="0"/>
                </a:lnTo>
                <a:close/>
              </a:path>
            </a:pathLst>
          </a:custGeom>
          <a:blipFill>
            <a:blip r:embed="rId3">
              <a:alphaModFix amt="7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1577296" y="3673126"/>
            <a:ext cx="15133407" cy="2249257"/>
          </a:xfrm>
          <a:prstGeom prst="rect">
            <a:avLst/>
          </a:prstGeom>
        </p:spPr>
        <p:txBody>
          <a:bodyPr anchor="t" rtlCol="false" tIns="0" lIns="0" bIns="0" rIns="0">
            <a:spAutoFit/>
          </a:bodyPr>
          <a:lstStyle/>
          <a:p>
            <a:pPr algn="ctr">
              <a:lnSpc>
                <a:spcPts val="18300"/>
              </a:lnSpc>
            </a:pPr>
            <a:r>
              <a:rPr lang="en-US" b="true" sz="13071">
                <a:solidFill>
                  <a:srgbClr val="163C3F"/>
                </a:solidFill>
                <a:latin typeface="Roca Two Bold"/>
                <a:ea typeface="Roca Two Bold"/>
                <a:cs typeface="Roca Two Bold"/>
                <a:sym typeface="Roca Two Bold"/>
              </a:rPr>
              <a:t>THANK YOU</a:t>
            </a:r>
          </a:p>
        </p:txBody>
      </p:sp>
      <p:sp>
        <p:nvSpPr>
          <p:cNvPr name="Freeform 8" id="8"/>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5486400" y="6022208"/>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0" id="10"/>
          <p:cNvSpPr txBox="true"/>
          <p:nvPr/>
        </p:nvSpPr>
        <p:spPr>
          <a:xfrm rot="0">
            <a:off x="7348697" y="2852501"/>
            <a:ext cx="3590607" cy="688975"/>
          </a:xfrm>
          <a:prstGeom prst="rect">
            <a:avLst/>
          </a:prstGeom>
        </p:spPr>
        <p:txBody>
          <a:bodyPr anchor="t" rtlCol="false" tIns="0" lIns="0" bIns="0" rIns="0">
            <a:spAutoFit/>
          </a:bodyPr>
          <a:lstStyle/>
          <a:p>
            <a:pPr algn="ctr">
              <a:lnSpc>
                <a:spcPts val="5599"/>
              </a:lnSpc>
            </a:pPr>
            <a:r>
              <a:rPr lang="en-US" sz="3999">
                <a:solidFill>
                  <a:srgbClr val="000000"/>
                </a:solidFill>
                <a:latin typeface="Arimo"/>
                <a:ea typeface="Arimo"/>
                <a:cs typeface="Arimo"/>
                <a:sym typeface="Arimo"/>
              </a:rPr>
              <a:t>Prelim :)</a:t>
            </a:r>
          </a:p>
        </p:txBody>
      </p:sp>
      <p:sp>
        <p:nvSpPr>
          <p:cNvPr name="TextBox 11" id="11"/>
          <p:cNvSpPr txBox="true"/>
          <p:nvPr/>
        </p:nvSpPr>
        <p:spPr>
          <a:xfrm rot="0">
            <a:off x="5724316" y="6659799"/>
            <a:ext cx="6839368" cy="688975"/>
          </a:xfrm>
          <a:prstGeom prst="rect">
            <a:avLst/>
          </a:prstGeom>
        </p:spPr>
        <p:txBody>
          <a:bodyPr anchor="t" rtlCol="false" tIns="0" lIns="0" bIns="0" rIns="0">
            <a:spAutoFit/>
          </a:bodyPr>
          <a:lstStyle/>
          <a:p>
            <a:pPr algn="ctr">
              <a:lnSpc>
                <a:spcPts val="5599"/>
              </a:lnSpc>
            </a:pPr>
            <a:r>
              <a:rPr lang="en-US" sz="3999">
                <a:solidFill>
                  <a:srgbClr val="000000"/>
                </a:solidFill>
                <a:latin typeface="Arimo"/>
                <a:ea typeface="Arimo"/>
                <a:cs typeface="Arimo"/>
                <a:sym typeface="Arimo"/>
              </a:rPr>
              <a:t>By Savannah C. Lewis </a:t>
            </a:r>
          </a:p>
        </p:txBody>
      </p:sp>
    </p:spTree>
  </p:cSld>
  <p:clrMapOvr>
    <a:masterClrMapping/>
  </p:clrMapOvr>
</p:sld>
</file>

<file path=ppt/slides/slide33.xml><?xml version="1.0" encoding="utf-8"?>
<p:sld xmlns:p="http://schemas.openxmlformats.org/presentationml/2006/main" xmlns:a="http://schemas.openxmlformats.org/drawingml/2006/main">
  <p:cSld>
    <p:bg>
      <p:bgPr>
        <a:solidFill>
          <a:srgbClr val="DCE3EC"/>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DAGmuf-bW5E</dc:identifier>
  <dcterms:modified xsi:type="dcterms:W3CDTF">2011-08-01T06:04:30Z</dcterms:modified>
  <cp:revision>1</cp:revision>
  <dc:title>DISSS</dc:title>
</cp:coreProperties>
</file>